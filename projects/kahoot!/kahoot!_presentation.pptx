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46178F"/>
    <a:srgbClr val="F2F2F2"/>
    <a:srgbClr val="E8E8E8"/>
    <a:srgbClr val="EB670F"/>
    <a:srgbClr val="B2DF9C"/>
    <a:srgbClr val="26890C"/>
    <a:srgbClr val="2507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D62837-D763-40B2-AF46-83684DB63156}" v="1" dt="2026-01-05T13:43:01.3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5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a Caballero" userId="63e0a8a112c9f293" providerId="LiveId" clId="{91856721-39E3-416F-B479-998D8CFEF8A1}"/>
    <pc:docChg chg="modSld">
      <pc:chgData name="Marta Caballero" userId="63e0a8a112c9f293" providerId="LiveId" clId="{91856721-39E3-416F-B479-998D8CFEF8A1}" dt="2026-01-05T13:43:38.019" v="26" actId="1038"/>
      <pc:docMkLst>
        <pc:docMk/>
      </pc:docMkLst>
      <pc:sldChg chg="modSp mod">
        <pc:chgData name="Marta Caballero" userId="63e0a8a112c9f293" providerId="LiveId" clId="{91856721-39E3-416F-B479-998D8CFEF8A1}" dt="2026-01-05T13:42:17.557" v="9" actId="20577"/>
        <pc:sldMkLst>
          <pc:docMk/>
          <pc:sldMk cId="690353652" sldId="257"/>
        </pc:sldMkLst>
        <pc:spChg chg="mod">
          <ac:chgData name="Marta Caballero" userId="63e0a8a112c9f293" providerId="LiveId" clId="{91856721-39E3-416F-B479-998D8CFEF8A1}" dt="2026-01-05T13:42:17.557" v="9" actId="20577"/>
          <ac:spMkLst>
            <pc:docMk/>
            <pc:sldMk cId="690353652" sldId="257"/>
            <ac:spMk id="3" creationId="{743DAFC4-18CF-5F4A-BD1E-B5A192352745}"/>
          </ac:spMkLst>
        </pc:spChg>
      </pc:sldChg>
      <pc:sldChg chg="modSp mod">
        <pc:chgData name="Marta Caballero" userId="63e0a8a112c9f293" providerId="LiveId" clId="{91856721-39E3-416F-B479-998D8CFEF8A1}" dt="2026-01-05T13:43:38.019" v="26" actId="1038"/>
        <pc:sldMkLst>
          <pc:docMk/>
          <pc:sldMk cId="824273734" sldId="259"/>
        </pc:sldMkLst>
        <pc:spChg chg="mod">
          <ac:chgData name="Marta Caballero" userId="63e0a8a112c9f293" providerId="LiveId" clId="{91856721-39E3-416F-B479-998D8CFEF8A1}" dt="2026-01-05T13:42:46.106" v="11" actId="20577"/>
          <ac:spMkLst>
            <pc:docMk/>
            <pc:sldMk cId="824273734" sldId="259"/>
            <ac:spMk id="3" creationId="{B4F9D6A5-793C-BE13-1843-959574106B73}"/>
          </ac:spMkLst>
        </pc:spChg>
        <pc:spChg chg="mod">
          <ac:chgData name="Marta Caballero" userId="63e0a8a112c9f293" providerId="LiveId" clId="{91856721-39E3-416F-B479-998D8CFEF8A1}" dt="2026-01-05T13:43:38.019" v="26" actId="1038"/>
          <ac:spMkLst>
            <pc:docMk/>
            <pc:sldMk cId="824273734" sldId="259"/>
            <ac:spMk id="13" creationId="{AF2740CE-F175-A9D1-9AAD-6F77E8EFB87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0ED7B3-142A-4A18-8B98-411F4146467F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B71D33D-297A-467F-8083-A5F80028ED4B}">
      <dgm:prSet phldrT="[Text]" phldr="0" custT="1"/>
      <dgm:spPr>
        <a:solidFill>
          <a:srgbClr val="46178F"/>
        </a:solidFill>
        <a:ln>
          <a:noFill/>
        </a:ln>
      </dgm:spPr>
      <dgm:t>
        <a:bodyPr/>
        <a:lstStyle/>
        <a:p>
          <a:r>
            <a:rPr lang="en-GB" sz="1600" b="1" dirty="0">
              <a:latin typeface="Montserrat" pitchFamily="2" charset="0"/>
            </a:rPr>
            <a:t>This week</a:t>
          </a:r>
        </a:p>
      </dgm:t>
    </dgm:pt>
    <dgm:pt modelId="{9B606245-E8A3-414A-9EE3-5E854FCDC953}" type="parTrans" cxnId="{56847FEB-914E-4FFF-A6F1-AA901C3AACD0}">
      <dgm:prSet/>
      <dgm:spPr/>
      <dgm:t>
        <a:bodyPr/>
        <a:lstStyle/>
        <a:p>
          <a:endParaRPr lang="en-GB"/>
        </a:p>
      </dgm:t>
    </dgm:pt>
    <dgm:pt modelId="{467817A4-11DD-467C-A902-C4BE31A4A57E}" type="sibTrans" cxnId="{56847FEB-914E-4FFF-A6F1-AA901C3AACD0}">
      <dgm:prSet/>
      <dgm:spPr/>
      <dgm:t>
        <a:bodyPr/>
        <a:lstStyle/>
        <a:p>
          <a:endParaRPr lang="en-GB"/>
        </a:p>
      </dgm:t>
    </dgm:pt>
    <dgm:pt modelId="{1D5895C9-6B6A-460C-991D-8C489031F8AF}">
      <dgm:prSet phldrT="[Text]" phldr="0" custT="1"/>
      <dgm:spPr>
        <a:ln>
          <a:solidFill>
            <a:srgbClr val="46178F"/>
          </a:solidFill>
        </a:ln>
      </dgm:spPr>
      <dgm:t>
        <a:bodyPr/>
        <a:lstStyle/>
        <a:p>
          <a:r>
            <a:rPr lang="en-GB" sz="1400" dirty="0">
              <a:latin typeface="Montserrat" pitchFamily="2" charset="0"/>
            </a:rPr>
            <a:t>Contact top at-risk renewals &amp; top expansion targets</a:t>
          </a:r>
        </a:p>
      </dgm:t>
    </dgm:pt>
    <dgm:pt modelId="{1C800035-7C41-4F96-AD16-1A526DB149AF}" type="parTrans" cxnId="{8F41DF63-312E-4DC6-B7E6-8D2BAA4AE85F}">
      <dgm:prSet/>
      <dgm:spPr/>
      <dgm:t>
        <a:bodyPr/>
        <a:lstStyle/>
        <a:p>
          <a:endParaRPr lang="en-GB"/>
        </a:p>
      </dgm:t>
    </dgm:pt>
    <dgm:pt modelId="{A47142A5-3E1B-47C1-B03C-BF6A492CE20E}" type="sibTrans" cxnId="{8F41DF63-312E-4DC6-B7E6-8D2BAA4AE85F}">
      <dgm:prSet/>
      <dgm:spPr/>
      <dgm:t>
        <a:bodyPr/>
        <a:lstStyle/>
        <a:p>
          <a:endParaRPr lang="en-GB"/>
        </a:p>
      </dgm:t>
    </dgm:pt>
    <dgm:pt modelId="{9269E54D-EDE0-4A9A-8CBD-2B9E1C7C540F}">
      <dgm:prSet phldrT="[Text]" phldr="0" custT="1"/>
      <dgm:spPr>
        <a:solidFill>
          <a:srgbClr val="46178F"/>
        </a:solidFill>
        <a:ln>
          <a:noFill/>
        </a:ln>
      </dgm:spPr>
      <dgm:t>
        <a:bodyPr/>
        <a:lstStyle/>
        <a:p>
          <a:r>
            <a:rPr lang="en-GB" sz="1600" b="1" dirty="0">
              <a:latin typeface="Montserrat" pitchFamily="2" charset="0"/>
            </a:rPr>
            <a:t>This month</a:t>
          </a:r>
        </a:p>
      </dgm:t>
    </dgm:pt>
    <dgm:pt modelId="{4E626E38-64B2-4562-BDB4-8A965FB06E7E}" type="parTrans" cxnId="{8EA91C6D-D4E7-49AB-9499-444D92AB7043}">
      <dgm:prSet/>
      <dgm:spPr/>
      <dgm:t>
        <a:bodyPr/>
        <a:lstStyle/>
        <a:p>
          <a:endParaRPr lang="en-GB"/>
        </a:p>
      </dgm:t>
    </dgm:pt>
    <dgm:pt modelId="{ECC8D37E-A6E4-4CC9-9ECC-A9967B8E0E97}" type="sibTrans" cxnId="{8EA91C6D-D4E7-49AB-9499-444D92AB7043}">
      <dgm:prSet/>
      <dgm:spPr/>
      <dgm:t>
        <a:bodyPr/>
        <a:lstStyle/>
        <a:p>
          <a:endParaRPr lang="en-GB"/>
        </a:p>
      </dgm:t>
    </dgm:pt>
    <dgm:pt modelId="{AD7E561C-84CA-4E5A-824D-D5E693E64F52}">
      <dgm:prSet phldrT="[Text]" phldr="0" custT="1"/>
      <dgm:spPr>
        <a:ln>
          <a:solidFill>
            <a:srgbClr val="46178F"/>
          </a:solidFill>
        </a:ln>
      </dgm:spPr>
      <dgm:t>
        <a:bodyPr/>
        <a:lstStyle/>
        <a:p>
          <a:r>
            <a:rPr lang="en-GB" sz="1400" dirty="0">
              <a:latin typeface="Montserrat" pitchFamily="2" charset="0"/>
            </a:rPr>
            <a:t>Activation playbook for churn/expansion segment</a:t>
          </a:r>
        </a:p>
      </dgm:t>
    </dgm:pt>
    <dgm:pt modelId="{F000774C-5CA3-4785-903B-9E55DE55206F}" type="parTrans" cxnId="{3D6D1359-404D-4C73-9503-73C54960F4E4}">
      <dgm:prSet/>
      <dgm:spPr/>
      <dgm:t>
        <a:bodyPr/>
        <a:lstStyle/>
        <a:p>
          <a:endParaRPr lang="en-GB"/>
        </a:p>
      </dgm:t>
    </dgm:pt>
    <dgm:pt modelId="{8A665445-5004-49CA-8F01-57846F5B224A}" type="sibTrans" cxnId="{3D6D1359-404D-4C73-9503-73C54960F4E4}">
      <dgm:prSet/>
      <dgm:spPr/>
      <dgm:t>
        <a:bodyPr/>
        <a:lstStyle/>
        <a:p>
          <a:endParaRPr lang="en-GB"/>
        </a:p>
      </dgm:t>
    </dgm:pt>
    <dgm:pt modelId="{53DEB187-CD4E-4946-A538-04EF083952AF}">
      <dgm:prSet phldrT="[Text]" phldr="0" custT="1"/>
      <dgm:spPr>
        <a:ln>
          <a:solidFill>
            <a:srgbClr val="46178F"/>
          </a:solidFill>
        </a:ln>
      </dgm:spPr>
      <dgm:t>
        <a:bodyPr/>
        <a:lstStyle/>
        <a:p>
          <a:r>
            <a:rPr lang="en-GB" sz="1400" dirty="0">
              <a:latin typeface="Montserrat" pitchFamily="2" charset="0"/>
            </a:rPr>
            <a:t>Invites → Logins → Creators</a:t>
          </a:r>
        </a:p>
      </dgm:t>
    </dgm:pt>
    <dgm:pt modelId="{9712AEE9-36C8-44B4-B5AA-0170C5A291B8}" type="parTrans" cxnId="{667163E7-0F8C-491A-88CE-DA9E7BF66C6C}">
      <dgm:prSet/>
      <dgm:spPr/>
      <dgm:t>
        <a:bodyPr/>
        <a:lstStyle/>
        <a:p>
          <a:endParaRPr lang="en-GB"/>
        </a:p>
      </dgm:t>
    </dgm:pt>
    <dgm:pt modelId="{F0DBE632-DCB2-4472-ACDF-5A573FE4BD5E}" type="sibTrans" cxnId="{667163E7-0F8C-491A-88CE-DA9E7BF66C6C}">
      <dgm:prSet/>
      <dgm:spPr/>
      <dgm:t>
        <a:bodyPr/>
        <a:lstStyle/>
        <a:p>
          <a:endParaRPr lang="en-GB"/>
        </a:p>
      </dgm:t>
    </dgm:pt>
    <dgm:pt modelId="{A693ACED-6CE1-43AC-83E2-1352D9CFD7DA}">
      <dgm:prSet phldrT="[Text]" phldr="0" custT="1"/>
      <dgm:spPr>
        <a:solidFill>
          <a:srgbClr val="46178F"/>
        </a:solidFill>
        <a:ln>
          <a:noFill/>
        </a:ln>
      </dgm:spPr>
      <dgm:t>
        <a:bodyPr/>
        <a:lstStyle/>
        <a:p>
          <a:r>
            <a:rPr lang="en-GB" sz="1600" b="1" dirty="0">
              <a:latin typeface="Montserrat" pitchFamily="2" charset="0"/>
            </a:rPr>
            <a:t>Measure success</a:t>
          </a:r>
        </a:p>
      </dgm:t>
    </dgm:pt>
    <dgm:pt modelId="{8ABE9FA8-5C83-41CF-A281-53DF15E17647}" type="parTrans" cxnId="{CA593770-FE6C-4B3C-9F2F-929180CF52A2}">
      <dgm:prSet/>
      <dgm:spPr/>
      <dgm:t>
        <a:bodyPr/>
        <a:lstStyle/>
        <a:p>
          <a:endParaRPr lang="en-GB"/>
        </a:p>
      </dgm:t>
    </dgm:pt>
    <dgm:pt modelId="{D1BFC06D-E81C-4F28-9FEC-7DC896029169}" type="sibTrans" cxnId="{CA593770-FE6C-4B3C-9F2F-929180CF52A2}">
      <dgm:prSet/>
      <dgm:spPr/>
      <dgm:t>
        <a:bodyPr/>
        <a:lstStyle/>
        <a:p>
          <a:endParaRPr lang="en-GB"/>
        </a:p>
      </dgm:t>
    </dgm:pt>
    <dgm:pt modelId="{261D48AF-506B-4712-8EEB-721DBCBBF2EA}">
      <dgm:prSet phldrT="[Text]" phldr="0" custT="1"/>
      <dgm:spPr>
        <a:ln>
          <a:solidFill>
            <a:srgbClr val="46178F"/>
          </a:solidFill>
        </a:ln>
      </dgm:spPr>
      <dgm:t>
        <a:bodyPr/>
        <a:lstStyle/>
        <a:p>
          <a:r>
            <a:rPr lang="en-GB" sz="1400" dirty="0">
              <a:latin typeface="Montserrat" pitchFamily="2" charset="0"/>
            </a:rPr>
            <a:t>Renewal rate (90d)</a:t>
          </a:r>
        </a:p>
      </dgm:t>
    </dgm:pt>
    <dgm:pt modelId="{9F1A4703-41D1-4BEF-8BC8-5C7710F5051C}" type="parTrans" cxnId="{FE99B6A6-9665-4A9A-B24F-2C8EA118A46E}">
      <dgm:prSet/>
      <dgm:spPr/>
      <dgm:t>
        <a:bodyPr/>
        <a:lstStyle/>
        <a:p>
          <a:endParaRPr lang="en-GB"/>
        </a:p>
      </dgm:t>
    </dgm:pt>
    <dgm:pt modelId="{2386B3C1-F7B2-4472-856B-315A2F25FF7A}" type="sibTrans" cxnId="{FE99B6A6-9665-4A9A-B24F-2C8EA118A46E}">
      <dgm:prSet/>
      <dgm:spPr/>
      <dgm:t>
        <a:bodyPr/>
        <a:lstStyle/>
        <a:p>
          <a:endParaRPr lang="en-GB"/>
        </a:p>
      </dgm:t>
    </dgm:pt>
    <dgm:pt modelId="{B3DDC557-E141-4F09-A678-C702EBA5C186}">
      <dgm:prSet phldrT="[Text]" phldr="0" custT="1"/>
      <dgm:spPr>
        <a:ln>
          <a:solidFill>
            <a:srgbClr val="46178F"/>
          </a:solidFill>
        </a:ln>
      </dgm:spPr>
      <dgm:t>
        <a:bodyPr/>
        <a:lstStyle/>
        <a:p>
          <a:r>
            <a:rPr lang="en-GB" sz="1400" dirty="0">
              <a:latin typeface="Montserrat" pitchFamily="2" charset="0"/>
            </a:rPr>
            <a:t>Effective churn (lost access)</a:t>
          </a:r>
        </a:p>
      </dgm:t>
    </dgm:pt>
    <dgm:pt modelId="{30475A4A-10E8-40D5-8270-3676815E7218}" type="parTrans" cxnId="{B097A6AC-B218-4844-AF49-5E979E278767}">
      <dgm:prSet/>
      <dgm:spPr/>
      <dgm:t>
        <a:bodyPr/>
        <a:lstStyle/>
        <a:p>
          <a:endParaRPr lang="en-GB"/>
        </a:p>
      </dgm:t>
    </dgm:pt>
    <dgm:pt modelId="{2EDDBF16-DC93-4318-838D-27256026C469}" type="sibTrans" cxnId="{B097A6AC-B218-4844-AF49-5E979E278767}">
      <dgm:prSet/>
      <dgm:spPr/>
      <dgm:t>
        <a:bodyPr/>
        <a:lstStyle/>
        <a:p>
          <a:endParaRPr lang="en-GB"/>
        </a:p>
      </dgm:t>
    </dgm:pt>
    <dgm:pt modelId="{4EA1E397-9028-4A7E-8667-25DC7666359E}">
      <dgm:prSet phldrT="[Text]" phldr="0" custT="1"/>
      <dgm:spPr>
        <a:ln>
          <a:solidFill>
            <a:srgbClr val="46178F"/>
          </a:solidFill>
        </a:ln>
      </dgm:spPr>
      <dgm:t>
        <a:bodyPr/>
        <a:lstStyle/>
        <a:p>
          <a:r>
            <a:rPr lang="en-GB" sz="1400" dirty="0">
              <a:latin typeface="Montserrat" pitchFamily="2" charset="0"/>
            </a:rPr>
            <a:t>Expansion wins (tiers/seats)</a:t>
          </a:r>
        </a:p>
      </dgm:t>
    </dgm:pt>
    <dgm:pt modelId="{43B25D43-C8E9-46C6-876E-B8E729A388B7}" type="parTrans" cxnId="{6206648A-7DB3-4FCB-8004-4A2B7986798C}">
      <dgm:prSet/>
      <dgm:spPr/>
      <dgm:t>
        <a:bodyPr/>
        <a:lstStyle/>
        <a:p>
          <a:endParaRPr lang="en-GB"/>
        </a:p>
      </dgm:t>
    </dgm:pt>
    <dgm:pt modelId="{E68EF2D0-236C-4B86-AAAA-9D51E8F67C03}" type="sibTrans" cxnId="{6206648A-7DB3-4FCB-8004-4A2B7986798C}">
      <dgm:prSet/>
      <dgm:spPr/>
      <dgm:t>
        <a:bodyPr/>
        <a:lstStyle/>
        <a:p>
          <a:endParaRPr lang="en-GB"/>
        </a:p>
      </dgm:t>
    </dgm:pt>
    <dgm:pt modelId="{8F3F103D-B594-4FB1-B3E9-CF9F7C723827}">
      <dgm:prSet phldrT="[Text]" phldr="0" custT="1"/>
      <dgm:spPr>
        <a:ln>
          <a:solidFill>
            <a:srgbClr val="46178F"/>
          </a:solidFill>
        </a:ln>
      </dgm:spPr>
      <dgm:t>
        <a:bodyPr/>
        <a:lstStyle/>
        <a:p>
          <a:r>
            <a:rPr lang="en-GB" sz="1400" dirty="0">
              <a:latin typeface="Montserrat" pitchFamily="2" charset="0"/>
            </a:rPr>
            <a:t>Conversion rate</a:t>
          </a:r>
        </a:p>
      </dgm:t>
    </dgm:pt>
    <dgm:pt modelId="{FB653D60-D51D-4D42-8EFF-7914CDA15D15}" type="parTrans" cxnId="{06819E7B-D360-49BF-9CB0-050B85F86D7C}">
      <dgm:prSet/>
      <dgm:spPr/>
      <dgm:t>
        <a:bodyPr/>
        <a:lstStyle/>
        <a:p>
          <a:endParaRPr lang="en-GB"/>
        </a:p>
      </dgm:t>
    </dgm:pt>
    <dgm:pt modelId="{43125413-8F86-4BDA-9904-DEB5563D8BDD}" type="sibTrans" cxnId="{06819E7B-D360-49BF-9CB0-050B85F86D7C}">
      <dgm:prSet/>
      <dgm:spPr/>
      <dgm:t>
        <a:bodyPr/>
        <a:lstStyle/>
        <a:p>
          <a:endParaRPr lang="en-GB"/>
        </a:p>
      </dgm:t>
    </dgm:pt>
    <dgm:pt modelId="{668CD10C-E845-489B-8A8E-81873BC245CE}" type="pres">
      <dgm:prSet presAssocID="{4E0ED7B3-142A-4A18-8B98-411F4146467F}" presName="linearFlow" presStyleCnt="0">
        <dgm:presLayoutVars>
          <dgm:dir/>
          <dgm:animLvl val="lvl"/>
          <dgm:resizeHandles val="exact"/>
        </dgm:presLayoutVars>
      </dgm:prSet>
      <dgm:spPr/>
    </dgm:pt>
    <dgm:pt modelId="{97261660-85FC-49F1-A173-417AAF31256F}" type="pres">
      <dgm:prSet presAssocID="{AB71D33D-297A-467F-8083-A5F80028ED4B}" presName="composite" presStyleCnt="0"/>
      <dgm:spPr/>
    </dgm:pt>
    <dgm:pt modelId="{84967E48-D1FC-4D77-BAE4-F7ECC69BAD85}" type="pres">
      <dgm:prSet presAssocID="{AB71D33D-297A-467F-8083-A5F80028ED4B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A0EFD9B4-47A5-49E4-BDC7-AD80A7BC1776}" type="pres">
      <dgm:prSet presAssocID="{AB71D33D-297A-467F-8083-A5F80028ED4B}" presName="descendantText" presStyleLbl="alignAcc1" presStyleIdx="0" presStyleCnt="3">
        <dgm:presLayoutVars>
          <dgm:bulletEnabled val="1"/>
        </dgm:presLayoutVars>
      </dgm:prSet>
      <dgm:spPr/>
    </dgm:pt>
    <dgm:pt modelId="{610A2EA2-C45A-4C79-B139-EF7FDFBBF949}" type="pres">
      <dgm:prSet presAssocID="{467817A4-11DD-467C-A902-C4BE31A4A57E}" presName="sp" presStyleCnt="0"/>
      <dgm:spPr/>
    </dgm:pt>
    <dgm:pt modelId="{91D2A7B1-C865-4419-98C2-DF2E2A901570}" type="pres">
      <dgm:prSet presAssocID="{9269E54D-EDE0-4A9A-8CBD-2B9E1C7C540F}" presName="composite" presStyleCnt="0"/>
      <dgm:spPr/>
    </dgm:pt>
    <dgm:pt modelId="{818AABA1-96A1-483F-8323-E606BE346D3A}" type="pres">
      <dgm:prSet presAssocID="{9269E54D-EDE0-4A9A-8CBD-2B9E1C7C540F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9325F641-DF14-40F2-B318-EEE132A77A6F}" type="pres">
      <dgm:prSet presAssocID="{9269E54D-EDE0-4A9A-8CBD-2B9E1C7C540F}" presName="descendantText" presStyleLbl="alignAcc1" presStyleIdx="1" presStyleCnt="3">
        <dgm:presLayoutVars>
          <dgm:bulletEnabled val="1"/>
        </dgm:presLayoutVars>
      </dgm:prSet>
      <dgm:spPr/>
    </dgm:pt>
    <dgm:pt modelId="{DB7BEBB0-AB0C-4FE9-A054-509BFD333948}" type="pres">
      <dgm:prSet presAssocID="{ECC8D37E-A6E4-4CC9-9ECC-A9967B8E0E97}" presName="sp" presStyleCnt="0"/>
      <dgm:spPr/>
    </dgm:pt>
    <dgm:pt modelId="{2F23E398-387C-485E-B419-F569E13E40EE}" type="pres">
      <dgm:prSet presAssocID="{A693ACED-6CE1-43AC-83E2-1352D9CFD7DA}" presName="composite" presStyleCnt="0"/>
      <dgm:spPr/>
    </dgm:pt>
    <dgm:pt modelId="{E4BDCB29-9D2E-4E62-BF1C-5B0117B3E1CB}" type="pres">
      <dgm:prSet presAssocID="{A693ACED-6CE1-43AC-83E2-1352D9CFD7DA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BFE571BF-CE27-40B5-9FB6-AB9D315786D6}" type="pres">
      <dgm:prSet presAssocID="{A693ACED-6CE1-43AC-83E2-1352D9CFD7DA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274A4221-E518-44C5-92F2-AE0B88A49B44}" type="presOf" srcId="{1D5895C9-6B6A-460C-991D-8C489031F8AF}" destId="{A0EFD9B4-47A5-49E4-BDC7-AD80A7BC1776}" srcOrd="0" destOrd="0" presId="urn:microsoft.com/office/officeart/2005/8/layout/chevron2"/>
    <dgm:cxn modelId="{8F41DF63-312E-4DC6-B7E6-8D2BAA4AE85F}" srcId="{AB71D33D-297A-467F-8083-A5F80028ED4B}" destId="{1D5895C9-6B6A-460C-991D-8C489031F8AF}" srcOrd="0" destOrd="0" parTransId="{1C800035-7C41-4F96-AD16-1A526DB149AF}" sibTransId="{A47142A5-3E1B-47C1-B03C-BF6A492CE20E}"/>
    <dgm:cxn modelId="{8EA91C6D-D4E7-49AB-9499-444D92AB7043}" srcId="{4E0ED7B3-142A-4A18-8B98-411F4146467F}" destId="{9269E54D-EDE0-4A9A-8CBD-2B9E1C7C540F}" srcOrd="1" destOrd="0" parTransId="{4E626E38-64B2-4562-BDB4-8A965FB06E7E}" sibTransId="{ECC8D37E-A6E4-4CC9-9ECC-A9967B8E0E97}"/>
    <dgm:cxn modelId="{CA593770-FE6C-4B3C-9F2F-929180CF52A2}" srcId="{4E0ED7B3-142A-4A18-8B98-411F4146467F}" destId="{A693ACED-6CE1-43AC-83E2-1352D9CFD7DA}" srcOrd="2" destOrd="0" parTransId="{8ABE9FA8-5C83-41CF-A281-53DF15E17647}" sibTransId="{D1BFC06D-E81C-4F28-9FEC-7DC896029169}"/>
    <dgm:cxn modelId="{EC24B250-AD7F-46CD-BC19-B85F89BB7A68}" type="presOf" srcId="{9269E54D-EDE0-4A9A-8CBD-2B9E1C7C540F}" destId="{818AABA1-96A1-483F-8323-E606BE346D3A}" srcOrd="0" destOrd="0" presId="urn:microsoft.com/office/officeart/2005/8/layout/chevron2"/>
    <dgm:cxn modelId="{AC56E950-6644-4223-9358-E5AF84AB6234}" type="presOf" srcId="{4EA1E397-9028-4A7E-8667-25DC7666359E}" destId="{BFE571BF-CE27-40B5-9FB6-AB9D315786D6}" srcOrd="0" destOrd="2" presId="urn:microsoft.com/office/officeart/2005/8/layout/chevron2"/>
    <dgm:cxn modelId="{3D6D1359-404D-4C73-9503-73C54960F4E4}" srcId="{9269E54D-EDE0-4A9A-8CBD-2B9E1C7C540F}" destId="{AD7E561C-84CA-4E5A-824D-D5E693E64F52}" srcOrd="0" destOrd="0" parTransId="{F000774C-5CA3-4785-903B-9E55DE55206F}" sibTransId="{8A665445-5004-49CA-8F01-57846F5B224A}"/>
    <dgm:cxn modelId="{06819E7B-D360-49BF-9CB0-050B85F86D7C}" srcId="{A693ACED-6CE1-43AC-83E2-1352D9CFD7DA}" destId="{8F3F103D-B594-4FB1-B3E9-CF9F7C723827}" srcOrd="3" destOrd="0" parTransId="{FB653D60-D51D-4D42-8EFF-7914CDA15D15}" sibTransId="{43125413-8F86-4BDA-9904-DEB5563D8BDD}"/>
    <dgm:cxn modelId="{27541183-351B-4201-85C3-EB5C3AD44D8B}" type="presOf" srcId="{261D48AF-506B-4712-8EEB-721DBCBBF2EA}" destId="{BFE571BF-CE27-40B5-9FB6-AB9D315786D6}" srcOrd="0" destOrd="0" presId="urn:microsoft.com/office/officeart/2005/8/layout/chevron2"/>
    <dgm:cxn modelId="{CA571386-D732-4DFD-8796-7503D90FF740}" type="presOf" srcId="{A693ACED-6CE1-43AC-83E2-1352D9CFD7DA}" destId="{E4BDCB29-9D2E-4E62-BF1C-5B0117B3E1CB}" srcOrd="0" destOrd="0" presId="urn:microsoft.com/office/officeart/2005/8/layout/chevron2"/>
    <dgm:cxn modelId="{6206648A-7DB3-4FCB-8004-4A2B7986798C}" srcId="{A693ACED-6CE1-43AC-83E2-1352D9CFD7DA}" destId="{4EA1E397-9028-4A7E-8667-25DC7666359E}" srcOrd="2" destOrd="0" parTransId="{43B25D43-C8E9-46C6-876E-B8E729A388B7}" sibTransId="{E68EF2D0-236C-4B86-AAAA-9D51E8F67C03}"/>
    <dgm:cxn modelId="{490F6890-1B5B-400E-ABAE-626B8B48D22C}" type="presOf" srcId="{AD7E561C-84CA-4E5A-824D-D5E693E64F52}" destId="{9325F641-DF14-40F2-B318-EEE132A77A6F}" srcOrd="0" destOrd="0" presId="urn:microsoft.com/office/officeart/2005/8/layout/chevron2"/>
    <dgm:cxn modelId="{E7D44292-7AFE-44BF-BD74-D26D9CCAB062}" type="presOf" srcId="{8F3F103D-B594-4FB1-B3E9-CF9F7C723827}" destId="{BFE571BF-CE27-40B5-9FB6-AB9D315786D6}" srcOrd="0" destOrd="3" presId="urn:microsoft.com/office/officeart/2005/8/layout/chevron2"/>
    <dgm:cxn modelId="{FE99B6A6-9665-4A9A-B24F-2C8EA118A46E}" srcId="{A693ACED-6CE1-43AC-83E2-1352D9CFD7DA}" destId="{261D48AF-506B-4712-8EEB-721DBCBBF2EA}" srcOrd="0" destOrd="0" parTransId="{9F1A4703-41D1-4BEF-8BC8-5C7710F5051C}" sibTransId="{2386B3C1-F7B2-4472-856B-315A2F25FF7A}"/>
    <dgm:cxn modelId="{B097A6AC-B218-4844-AF49-5E979E278767}" srcId="{A693ACED-6CE1-43AC-83E2-1352D9CFD7DA}" destId="{B3DDC557-E141-4F09-A678-C702EBA5C186}" srcOrd="1" destOrd="0" parTransId="{30475A4A-10E8-40D5-8270-3676815E7218}" sibTransId="{2EDDBF16-DC93-4318-838D-27256026C469}"/>
    <dgm:cxn modelId="{34CC8AB1-FC27-4048-BFE6-5F3095561E0A}" type="presOf" srcId="{AB71D33D-297A-467F-8083-A5F80028ED4B}" destId="{84967E48-D1FC-4D77-BAE4-F7ECC69BAD85}" srcOrd="0" destOrd="0" presId="urn:microsoft.com/office/officeart/2005/8/layout/chevron2"/>
    <dgm:cxn modelId="{667163E7-0F8C-491A-88CE-DA9E7BF66C6C}" srcId="{9269E54D-EDE0-4A9A-8CBD-2B9E1C7C540F}" destId="{53DEB187-CD4E-4946-A538-04EF083952AF}" srcOrd="1" destOrd="0" parTransId="{9712AEE9-36C8-44B4-B5AA-0170C5A291B8}" sibTransId="{F0DBE632-DCB2-4472-ACDF-5A573FE4BD5E}"/>
    <dgm:cxn modelId="{56847FEB-914E-4FFF-A6F1-AA901C3AACD0}" srcId="{4E0ED7B3-142A-4A18-8B98-411F4146467F}" destId="{AB71D33D-297A-467F-8083-A5F80028ED4B}" srcOrd="0" destOrd="0" parTransId="{9B606245-E8A3-414A-9EE3-5E854FCDC953}" sibTransId="{467817A4-11DD-467C-A902-C4BE31A4A57E}"/>
    <dgm:cxn modelId="{073467ED-8BAA-4E23-98A4-0DEE9B70FB4A}" type="presOf" srcId="{B3DDC557-E141-4F09-A678-C702EBA5C186}" destId="{BFE571BF-CE27-40B5-9FB6-AB9D315786D6}" srcOrd="0" destOrd="1" presId="urn:microsoft.com/office/officeart/2005/8/layout/chevron2"/>
    <dgm:cxn modelId="{76EF85ED-AAB2-4610-8C63-13E3CCC43EB2}" type="presOf" srcId="{53DEB187-CD4E-4946-A538-04EF083952AF}" destId="{9325F641-DF14-40F2-B318-EEE132A77A6F}" srcOrd="0" destOrd="1" presId="urn:microsoft.com/office/officeart/2005/8/layout/chevron2"/>
    <dgm:cxn modelId="{164683F8-55AC-4508-88A6-D35AB7F6F48A}" type="presOf" srcId="{4E0ED7B3-142A-4A18-8B98-411F4146467F}" destId="{668CD10C-E845-489B-8A8E-81873BC245CE}" srcOrd="0" destOrd="0" presId="urn:microsoft.com/office/officeart/2005/8/layout/chevron2"/>
    <dgm:cxn modelId="{8E1606A3-C24A-43B3-9528-BA43C9991866}" type="presParOf" srcId="{668CD10C-E845-489B-8A8E-81873BC245CE}" destId="{97261660-85FC-49F1-A173-417AAF31256F}" srcOrd="0" destOrd="0" presId="urn:microsoft.com/office/officeart/2005/8/layout/chevron2"/>
    <dgm:cxn modelId="{563A25D6-647E-4D82-BFCE-F18F13356324}" type="presParOf" srcId="{97261660-85FC-49F1-A173-417AAF31256F}" destId="{84967E48-D1FC-4D77-BAE4-F7ECC69BAD85}" srcOrd="0" destOrd="0" presId="urn:microsoft.com/office/officeart/2005/8/layout/chevron2"/>
    <dgm:cxn modelId="{C2743F0B-8B0B-421F-879D-10FD6A2B36FF}" type="presParOf" srcId="{97261660-85FC-49F1-A173-417AAF31256F}" destId="{A0EFD9B4-47A5-49E4-BDC7-AD80A7BC1776}" srcOrd="1" destOrd="0" presId="urn:microsoft.com/office/officeart/2005/8/layout/chevron2"/>
    <dgm:cxn modelId="{E04D8662-F961-4DB3-A675-09B74B1CC9A0}" type="presParOf" srcId="{668CD10C-E845-489B-8A8E-81873BC245CE}" destId="{610A2EA2-C45A-4C79-B139-EF7FDFBBF949}" srcOrd="1" destOrd="0" presId="urn:microsoft.com/office/officeart/2005/8/layout/chevron2"/>
    <dgm:cxn modelId="{17691378-75F8-4079-90D9-A591442E7AC6}" type="presParOf" srcId="{668CD10C-E845-489B-8A8E-81873BC245CE}" destId="{91D2A7B1-C865-4419-98C2-DF2E2A901570}" srcOrd="2" destOrd="0" presId="urn:microsoft.com/office/officeart/2005/8/layout/chevron2"/>
    <dgm:cxn modelId="{0182AD21-2CE9-485B-88F8-AE4CFCC98523}" type="presParOf" srcId="{91D2A7B1-C865-4419-98C2-DF2E2A901570}" destId="{818AABA1-96A1-483F-8323-E606BE346D3A}" srcOrd="0" destOrd="0" presId="urn:microsoft.com/office/officeart/2005/8/layout/chevron2"/>
    <dgm:cxn modelId="{07BCADD3-B6FD-4005-86D0-2AFB9ABC4F8A}" type="presParOf" srcId="{91D2A7B1-C865-4419-98C2-DF2E2A901570}" destId="{9325F641-DF14-40F2-B318-EEE132A77A6F}" srcOrd="1" destOrd="0" presId="urn:microsoft.com/office/officeart/2005/8/layout/chevron2"/>
    <dgm:cxn modelId="{17F7DEAE-2711-4CFB-B4C1-AA4EDB048DA7}" type="presParOf" srcId="{668CD10C-E845-489B-8A8E-81873BC245CE}" destId="{DB7BEBB0-AB0C-4FE9-A054-509BFD333948}" srcOrd="3" destOrd="0" presId="urn:microsoft.com/office/officeart/2005/8/layout/chevron2"/>
    <dgm:cxn modelId="{D60405D7-0997-4178-B71D-4BD5E28CEBFB}" type="presParOf" srcId="{668CD10C-E845-489B-8A8E-81873BC245CE}" destId="{2F23E398-387C-485E-B419-F569E13E40EE}" srcOrd="4" destOrd="0" presId="urn:microsoft.com/office/officeart/2005/8/layout/chevron2"/>
    <dgm:cxn modelId="{876FE8EB-7192-4EDD-BFC0-5FA800ED580D}" type="presParOf" srcId="{2F23E398-387C-485E-B419-F569E13E40EE}" destId="{E4BDCB29-9D2E-4E62-BF1C-5B0117B3E1CB}" srcOrd="0" destOrd="0" presId="urn:microsoft.com/office/officeart/2005/8/layout/chevron2"/>
    <dgm:cxn modelId="{58C8EEE0-80CF-4BB4-A7D0-195359FCFC7A}" type="presParOf" srcId="{2F23E398-387C-485E-B419-F569E13E40EE}" destId="{BFE571BF-CE27-40B5-9FB6-AB9D315786D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967E48-D1FC-4D77-BAE4-F7ECC69BAD85}">
      <dsp:nvSpPr>
        <dsp:cNvPr id="0" name=""/>
        <dsp:cNvSpPr/>
      </dsp:nvSpPr>
      <dsp:spPr>
        <a:xfrm rot="5400000">
          <a:off x="-226559" y="228661"/>
          <a:ext cx="1510396" cy="1057277"/>
        </a:xfrm>
        <a:prstGeom prst="chevron">
          <a:avLst/>
        </a:prstGeom>
        <a:solidFill>
          <a:srgbClr val="46178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>
              <a:latin typeface="Montserrat" pitchFamily="2" charset="0"/>
            </a:rPr>
            <a:t>This week</a:t>
          </a:r>
        </a:p>
      </dsp:txBody>
      <dsp:txXfrm rot="-5400000">
        <a:off x="1" y="530741"/>
        <a:ext cx="1057277" cy="453119"/>
      </dsp:txXfrm>
    </dsp:sp>
    <dsp:sp modelId="{A0EFD9B4-47A5-49E4-BDC7-AD80A7BC1776}">
      <dsp:nvSpPr>
        <dsp:cNvPr id="0" name=""/>
        <dsp:cNvSpPr/>
      </dsp:nvSpPr>
      <dsp:spPr>
        <a:xfrm rot="5400000">
          <a:off x="2166411" y="-1107031"/>
          <a:ext cx="982273" cy="320054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46178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>
              <a:latin typeface="Montserrat" pitchFamily="2" charset="0"/>
            </a:rPr>
            <a:t>Contact top at-risk renewals &amp; top expansion targets</a:t>
          </a:r>
        </a:p>
      </dsp:txBody>
      <dsp:txXfrm rot="-5400000">
        <a:off x="1057278" y="50053"/>
        <a:ext cx="3152590" cy="886371"/>
      </dsp:txXfrm>
    </dsp:sp>
    <dsp:sp modelId="{818AABA1-96A1-483F-8323-E606BE346D3A}">
      <dsp:nvSpPr>
        <dsp:cNvPr id="0" name=""/>
        <dsp:cNvSpPr/>
      </dsp:nvSpPr>
      <dsp:spPr>
        <a:xfrm rot="5400000">
          <a:off x="-226559" y="1543861"/>
          <a:ext cx="1510396" cy="1057277"/>
        </a:xfrm>
        <a:prstGeom prst="chevron">
          <a:avLst/>
        </a:prstGeom>
        <a:solidFill>
          <a:srgbClr val="46178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>
              <a:latin typeface="Montserrat" pitchFamily="2" charset="0"/>
            </a:rPr>
            <a:t>This month</a:t>
          </a:r>
        </a:p>
      </dsp:txBody>
      <dsp:txXfrm rot="-5400000">
        <a:off x="1" y="1845941"/>
        <a:ext cx="1057277" cy="453119"/>
      </dsp:txXfrm>
    </dsp:sp>
    <dsp:sp modelId="{9325F641-DF14-40F2-B318-EEE132A77A6F}">
      <dsp:nvSpPr>
        <dsp:cNvPr id="0" name=""/>
        <dsp:cNvSpPr/>
      </dsp:nvSpPr>
      <dsp:spPr>
        <a:xfrm rot="5400000">
          <a:off x="2166669" y="207909"/>
          <a:ext cx="981757" cy="320054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46178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>
              <a:latin typeface="Montserrat" pitchFamily="2" charset="0"/>
            </a:rPr>
            <a:t>Activation playbook for churn/expansion segment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>
              <a:latin typeface="Montserrat" pitchFamily="2" charset="0"/>
            </a:rPr>
            <a:t>Invites → Logins → Creators</a:t>
          </a:r>
        </a:p>
      </dsp:txBody>
      <dsp:txXfrm rot="-5400000">
        <a:off x="1057278" y="1365226"/>
        <a:ext cx="3152616" cy="885907"/>
      </dsp:txXfrm>
    </dsp:sp>
    <dsp:sp modelId="{E4BDCB29-9D2E-4E62-BF1C-5B0117B3E1CB}">
      <dsp:nvSpPr>
        <dsp:cNvPr id="0" name=""/>
        <dsp:cNvSpPr/>
      </dsp:nvSpPr>
      <dsp:spPr>
        <a:xfrm rot="5400000">
          <a:off x="-226559" y="2859061"/>
          <a:ext cx="1510396" cy="1057277"/>
        </a:xfrm>
        <a:prstGeom prst="chevron">
          <a:avLst/>
        </a:prstGeom>
        <a:solidFill>
          <a:srgbClr val="46178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>
              <a:latin typeface="Montserrat" pitchFamily="2" charset="0"/>
            </a:rPr>
            <a:t>Measure success</a:t>
          </a:r>
        </a:p>
      </dsp:txBody>
      <dsp:txXfrm rot="-5400000">
        <a:off x="1" y="3161141"/>
        <a:ext cx="1057277" cy="453119"/>
      </dsp:txXfrm>
    </dsp:sp>
    <dsp:sp modelId="{BFE571BF-CE27-40B5-9FB6-AB9D315786D6}">
      <dsp:nvSpPr>
        <dsp:cNvPr id="0" name=""/>
        <dsp:cNvSpPr/>
      </dsp:nvSpPr>
      <dsp:spPr>
        <a:xfrm rot="5400000">
          <a:off x="2166669" y="1523109"/>
          <a:ext cx="981757" cy="320054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46178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>
              <a:latin typeface="Montserrat" pitchFamily="2" charset="0"/>
            </a:rPr>
            <a:t>Renewal rate (90d)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>
              <a:latin typeface="Montserrat" pitchFamily="2" charset="0"/>
            </a:rPr>
            <a:t>Effective churn (lost access)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>
              <a:latin typeface="Montserrat" pitchFamily="2" charset="0"/>
            </a:rPr>
            <a:t>Expansion wins (tiers/seats)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>
              <a:latin typeface="Montserrat" pitchFamily="2" charset="0"/>
            </a:rPr>
            <a:t>Conversion rate</a:t>
          </a:r>
        </a:p>
      </dsp:txBody>
      <dsp:txXfrm rot="-5400000">
        <a:off x="1057278" y="2680426"/>
        <a:ext cx="3152616" cy="8859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250407-B3A0-4AC7-90DB-619E78FF1FA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EA003C-E15E-429F-98EC-CF7EADD3CD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569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EA003C-E15E-429F-98EC-CF7EADD3CDF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3168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B0A4D-6E9F-EFC6-C92B-4803D7EBA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AB154-4D10-5B5F-66E3-58E702056B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E6F04-3A89-EC86-FA2A-3D817E7CE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5F67-63DB-471A-A302-88272CFA0C15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46CC7-C37C-6A63-5FD5-859B9F5AC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D754D-69F2-D512-5A01-07C9C6675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25CD-5479-40E7-9417-4550344613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46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C0D64-E467-25BB-A425-A947DADED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B46C1-36F8-937E-4BFB-95C05E774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194F9-023F-8C4B-2F79-8FCED9C66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5F67-63DB-471A-A302-88272CFA0C15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93A46-9CFD-89AA-149E-7A249FC8B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B51DF-E709-6BA5-0C5B-0CA67DAA3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25CD-5479-40E7-9417-4550344613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524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78C15-DD2F-F9F8-3E92-752E53A4B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094DC-8A0D-EEA2-B4FC-9D7FFDD84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969C2-05D4-F1DA-3837-A64A91BCB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5F67-63DB-471A-A302-88272CFA0C15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0E614-0238-6246-77D9-9AB0A5568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EFE6-735E-83B6-BADB-5C064AF9B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25CD-5479-40E7-9417-4550344613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653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29183-D85F-CAD0-DD13-5E4732DFE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5D8ED-DA60-04A1-E3CC-0F19670D95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48CF4-BD46-F579-3A1F-E69D6C804E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3B65B-5287-F758-31BF-47DA07B40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5F67-63DB-471A-A302-88272CFA0C15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24879-D84D-E4B0-EE13-A6ACC8846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6176D-6B7D-8158-68DF-D2EE43971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25CD-5479-40E7-9417-4550344613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498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C102A-7F7B-8E58-ECE7-4444E687F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2B58E-0345-4C0D-E036-8FA487C49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DAFDE-7B25-4FC9-76B6-EA53CC2C3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8F7A7E-5622-5455-6B4E-9F19A45A8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DDA196-ADF7-818E-625F-2FD862E23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56FC9E-9532-F50F-4527-C80BA36B8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5F67-63DB-471A-A302-88272CFA0C15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1D0340-6377-D619-94A9-10010582A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04FDD-1A6F-E2AA-CC0E-F3ED3524B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25CD-5479-40E7-9417-4550344613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519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0F1FC-27EF-93FF-953D-059B6E2B0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167EC-F14A-EA66-77C4-A7E6DCE96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5F67-63DB-471A-A302-88272CFA0C15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E1551C-E570-252F-D331-48671DFB1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4C16D-E3F8-97AF-F57C-0540F0C09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25CD-5479-40E7-9417-4550344613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266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A09C76-E13F-AE2B-2682-2212B8081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5F67-63DB-471A-A302-88272CFA0C15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4EEEB7-0B1D-0D79-A74D-F793B9653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F3594-5B26-8547-1178-79B23F640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25CD-5479-40E7-9417-4550344613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9508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22329-DE06-AAEA-326B-E306CEB6F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C0B5C-0F6E-AA3E-F46F-ADF58742A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57E50-08AD-6F6E-24C2-785ECDCDF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378E5-D7A6-D622-D2EE-44ED0B801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5F67-63DB-471A-A302-88272CFA0C15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847B9-32F8-B4FE-118A-BDBAF1EC5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B81D3-8091-3391-D0FE-BE1EE1EA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25CD-5479-40E7-9417-4550344613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345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B118F-9C9D-75BD-9656-C35B92ED2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661D76-5039-FE00-1FF6-30A5CF60F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8A6AD-0A5A-146D-E449-308D82BF7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CD2C8-B717-23FC-E3D4-6EE0B7893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5F67-63DB-471A-A302-88272CFA0C15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8FFED-FFAB-40DF-51C8-8117E78D5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398DD-8AE9-433C-D07D-6276EDFC4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25CD-5479-40E7-9417-4550344613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059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2848-AAA1-FAD0-9C35-0449808CD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4C575C-18F9-75BB-61D3-92BC594A0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69246-A165-C529-7641-71E9D16DD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5F67-63DB-471A-A302-88272CFA0C15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490C2-BEB9-BE49-99CC-48A2540BE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89974-5B44-C319-5FB0-5F87A8666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25CD-5479-40E7-9417-4550344613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007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683086-9402-91B4-A617-DD5BDF7D2D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CD01B7-5E3E-106E-FE0F-B4D96E3C2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A242D-895E-2556-ECCB-B14F1BDFF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5F67-63DB-471A-A302-88272CFA0C15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3FA73-F13F-84D3-0DF5-C143B8573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EA4A3-017E-60CE-0CF3-34E514C12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25CD-5479-40E7-9417-4550344613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33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71416A-2BE7-F276-248D-6E42EAE19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6E614-BEC0-AA3A-05A9-F409C9A82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4E3F1-5805-36F9-0DF5-535FC51A6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F5F67-63DB-471A-A302-88272CFA0C15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32512-F347-8EBC-8A2F-67D1CEC19F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4C534-1501-9822-D569-B775EED80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C525CD-5479-40E7-9417-4550344613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5861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17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AADC304-21FE-C2E0-6158-9E631954A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51228" y="2798861"/>
            <a:ext cx="6840772" cy="4059141"/>
          </a:xfrm>
          <a:custGeom>
            <a:avLst/>
            <a:gdLst>
              <a:gd name="csX0" fmla="*/ 4788156 w 6840772"/>
              <a:gd name="csY0" fmla="*/ 0 h 4059141"/>
              <a:gd name="csX1" fmla="*/ 6651923 w 6840772"/>
              <a:gd name="csY1" fmla="*/ 293150 h 4059141"/>
              <a:gd name="csX2" fmla="*/ 6840772 w 6840772"/>
              <a:gd name="csY2" fmla="*/ 359665 h 4059141"/>
              <a:gd name="csX3" fmla="*/ 6840772 w 6840772"/>
              <a:gd name="csY3" fmla="*/ 4059141 h 4059141"/>
              <a:gd name="csX4" fmla="*/ 19585 w 6840772"/>
              <a:gd name="csY4" fmla="*/ 4059141 h 4059141"/>
              <a:gd name="csX5" fmla="*/ 6231 w 6840772"/>
              <a:gd name="csY5" fmla="*/ 3922315 h 4059141"/>
              <a:gd name="csX6" fmla="*/ 0 w 6840772"/>
              <a:gd name="csY6" fmla="*/ 3730351 h 4059141"/>
              <a:gd name="csX7" fmla="*/ 4788156 w 6840772"/>
              <a:gd name="csY7" fmla="*/ 0 h 40591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840772" h="4059141">
                <a:moveTo>
                  <a:pt x="4788156" y="0"/>
                </a:moveTo>
                <a:cubicBezTo>
                  <a:pt x="5449263" y="0"/>
                  <a:pt x="6079076" y="104384"/>
                  <a:pt x="6651923" y="293150"/>
                </a:cubicBezTo>
                <a:lnTo>
                  <a:pt x="6840772" y="359665"/>
                </a:lnTo>
                <a:lnTo>
                  <a:pt x="6840772" y="4059141"/>
                </a:lnTo>
                <a:lnTo>
                  <a:pt x="19585" y="4059141"/>
                </a:lnTo>
                <a:lnTo>
                  <a:pt x="6231" y="3922315"/>
                </a:lnTo>
                <a:cubicBezTo>
                  <a:pt x="2094" y="3858734"/>
                  <a:pt x="0" y="3794733"/>
                  <a:pt x="0" y="3730351"/>
                </a:cubicBezTo>
                <a:cubicBezTo>
                  <a:pt x="0" y="1670135"/>
                  <a:pt x="2143730" y="0"/>
                  <a:pt x="4788156" y="0"/>
                </a:cubicBezTo>
                <a:close/>
              </a:path>
            </a:pathLst>
          </a:custGeom>
          <a:solidFill>
            <a:srgbClr val="2507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B6D9A0-66DA-E858-BA86-7C11E207F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08331"/>
            <a:ext cx="9144000" cy="1808384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Montserrat Black" pitchFamily="2" charset="0"/>
              </a:rPr>
              <a:t>Customer Success Growth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D96CC-4BE2-C0FC-0C31-590BBBE46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58701"/>
            <a:ext cx="9144000" cy="54854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Montserrat" pitchFamily="2" charset="0"/>
              </a:rPr>
              <a:t>Retention • Churn Risk • Expansion Opportunities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B699E5-563E-0134-A1BC-7A265C35C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071" y="775687"/>
            <a:ext cx="2453858" cy="8373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052861-00AA-7FE4-A74B-82BA1F697B6F}"/>
              </a:ext>
            </a:extLst>
          </p:cNvPr>
          <p:cNvSpPr txBox="1"/>
          <p:nvPr/>
        </p:nvSpPr>
        <p:spPr>
          <a:xfrm>
            <a:off x="8415742" y="5667437"/>
            <a:ext cx="39358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Montserrat Light" pitchFamily="2" charset="0"/>
              </a:rPr>
              <a:t>Case: Data Analyst &amp; Coordinator</a:t>
            </a:r>
          </a:p>
          <a:p>
            <a:r>
              <a:rPr lang="en-GB" sz="1600" dirty="0">
                <a:solidFill>
                  <a:schemeClr val="bg1"/>
                </a:solidFill>
                <a:latin typeface="Montserrat Light" pitchFamily="2" charset="0"/>
              </a:rPr>
              <a:t>Marta Caballero Puig</a:t>
            </a:r>
          </a:p>
          <a:p>
            <a:r>
              <a:rPr lang="en-GB" sz="1600" dirty="0">
                <a:solidFill>
                  <a:schemeClr val="bg1"/>
                </a:solidFill>
                <a:latin typeface="Montserrat Light" pitchFamily="2" charset="0"/>
              </a:rPr>
              <a:t>January 2026</a:t>
            </a:r>
          </a:p>
        </p:txBody>
      </p:sp>
    </p:spTree>
    <p:extLst>
      <p:ext uri="{BB962C8B-B14F-4D97-AF65-F5344CB8AC3E}">
        <p14:creationId xmlns:p14="http://schemas.microsoft.com/office/powerpoint/2010/main" val="2611020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09FBD7-EC34-6B4E-DA1C-D20CA5CCA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45A8CA-2B02-91F5-BBE1-113E530290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705856"/>
          </a:xfrm>
          <a:prstGeom prst="rect">
            <a:avLst/>
          </a:prstGeom>
          <a:solidFill>
            <a:srgbClr val="4617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E3BA40-5E0F-E35C-C894-28DD26572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7146"/>
            <a:ext cx="10515600" cy="1008563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chemeClr val="bg1"/>
                </a:solidFill>
                <a:latin typeface="Montserrat Black" pitchFamily="2" charset="0"/>
              </a:rPr>
              <a:t>Executive summary: where to focus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95566-F8F2-65C3-A252-B4D440894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064" y="2022854"/>
            <a:ext cx="10972800" cy="36298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a-ES" sz="1600" b="1" dirty="0">
                <a:solidFill>
                  <a:srgbClr val="333333"/>
                </a:solidFill>
                <a:latin typeface="Montserrat" pitchFamily="2" charset="0"/>
              </a:rPr>
              <a:t>What we learned</a:t>
            </a:r>
          </a:p>
          <a:p>
            <a:r>
              <a:rPr lang="ca-ES" sz="1600" dirty="0">
                <a:solidFill>
                  <a:srgbClr val="333333"/>
                </a:solidFill>
                <a:latin typeface="Montserrat" pitchFamily="2" charset="0"/>
              </a:rPr>
              <a:t>Healthy retention in 2024-2025: churn impact mainly from high-volume segments, not niche tiers.</a:t>
            </a:r>
          </a:p>
          <a:p>
            <a:r>
              <a:rPr lang="ca-ES" sz="1600" dirty="0">
                <a:solidFill>
                  <a:srgbClr val="333333"/>
                </a:solidFill>
                <a:latin typeface="Montserrat" pitchFamily="2" charset="0"/>
              </a:rPr>
              <a:t>Account access losses are time-clustered: it seems like some periods drive most of real churn.</a:t>
            </a:r>
          </a:p>
          <a:p>
            <a:r>
              <a:rPr lang="ca-ES" sz="1600" dirty="0">
                <a:solidFill>
                  <a:srgbClr val="333333"/>
                </a:solidFill>
                <a:latin typeface="Montserrat" pitchFamily="2" charset="0"/>
              </a:rPr>
              <a:t>Expansion in behavior: high usage on lower tiers (especially close to renewal) signals to customers outgrowing their plans.</a:t>
            </a:r>
          </a:p>
          <a:p>
            <a:pPr marL="0" indent="0">
              <a:buNone/>
            </a:pPr>
            <a:endParaRPr lang="ca-ES" sz="1600" dirty="0">
              <a:solidFill>
                <a:srgbClr val="333333"/>
              </a:solidFill>
              <a:latin typeface="Montserrat" pitchFamily="2" charset="0"/>
            </a:endParaRPr>
          </a:p>
          <a:p>
            <a:pPr marL="0" indent="0">
              <a:buNone/>
            </a:pPr>
            <a:r>
              <a:rPr lang="ca-ES" sz="1600" b="1" dirty="0">
                <a:solidFill>
                  <a:srgbClr val="333333"/>
                </a:solidFill>
                <a:latin typeface="Montserrat" pitchFamily="2" charset="0"/>
              </a:rPr>
              <a:t>What we should do next</a:t>
            </a:r>
          </a:p>
          <a:p>
            <a:pPr marL="457200" indent="-457200">
              <a:buFont typeface="+mj-lt"/>
              <a:buAutoNum type="arabicPeriod"/>
            </a:pPr>
            <a:r>
              <a:rPr lang="ca-ES" sz="1600" dirty="0">
                <a:solidFill>
                  <a:srgbClr val="333333"/>
                </a:solidFill>
                <a:latin typeface="Montserrat" pitchFamily="2" charset="0"/>
              </a:rPr>
              <a:t>Protect renewals: run a sprint to outreach at-risk accounts renewing soon with a specified playbook.</a:t>
            </a:r>
          </a:p>
          <a:p>
            <a:pPr marL="457200" indent="-457200">
              <a:buFont typeface="+mj-lt"/>
              <a:buAutoNum type="arabicPeriod"/>
            </a:pPr>
            <a:r>
              <a:rPr lang="ca-ES" sz="1600" dirty="0">
                <a:solidFill>
                  <a:srgbClr val="333333"/>
                </a:solidFill>
                <a:latin typeface="Montserrat" pitchFamily="2" charset="0"/>
              </a:rPr>
              <a:t>Prioritize upsell timing: start with subset renewing within 60 days and target “high usage” + “low tier” subscriptions.</a:t>
            </a:r>
          </a:p>
          <a:p>
            <a:pPr marL="457200" indent="-457200">
              <a:buFont typeface="+mj-lt"/>
              <a:buAutoNum type="arabicPeriod"/>
            </a:pPr>
            <a:r>
              <a:rPr lang="ca-ES" sz="1600" dirty="0">
                <a:solidFill>
                  <a:srgbClr val="333333"/>
                </a:solidFill>
                <a:latin typeface="Montserrat" pitchFamily="2" charset="0"/>
              </a:rPr>
              <a:t>Activate before expanding: usage of invites, logins and creators are leading indicators. Fix activation gaps before pushing for upgrades.</a:t>
            </a:r>
          </a:p>
          <a:p>
            <a:pPr marL="0" indent="0">
              <a:buNone/>
            </a:pPr>
            <a:endParaRPr lang="ca-ES" sz="2400" dirty="0">
              <a:latin typeface="Montserrat" pitchFamily="2" charset="0"/>
            </a:endParaRPr>
          </a:p>
          <a:p>
            <a:endParaRPr lang="en-GB" sz="2400" dirty="0">
              <a:latin typeface="Montserra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FDEB27-ED18-59D9-D969-E593E34B913B}"/>
              </a:ext>
            </a:extLst>
          </p:cNvPr>
          <p:cNvSpPr txBox="1"/>
          <p:nvPr/>
        </p:nvSpPr>
        <p:spPr>
          <a:xfrm>
            <a:off x="613065" y="5744076"/>
            <a:ext cx="10972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200" b="1" i="1" dirty="0">
                <a:solidFill>
                  <a:srgbClr val="333333"/>
                </a:solidFill>
                <a:latin typeface="Montserrat" pitchFamily="2" charset="0"/>
              </a:rPr>
              <a:t>Method</a:t>
            </a:r>
          </a:p>
          <a:p>
            <a:r>
              <a:rPr lang="ca-ES" sz="1200" i="1" dirty="0">
                <a:solidFill>
                  <a:srgbClr val="333333"/>
                </a:solidFill>
                <a:latin typeface="Montserrat" pitchFamily="2" charset="0"/>
              </a:rPr>
              <a:t>Data prep: standarized </a:t>
            </a:r>
            <a:r>
              <a:rPr lang="en-GB" sz="1200" i="1" dirty="0">
                <a:solidFill>
                  <a:srgbClr val="333333"/>
                </a:solidFill>
                <a:latin typeface="Montserrat" pitchFamily="2" charset="0"/>
              </a:rPr>
              <a:t>~ </a:t>
            </a:r>
            <a:r>
              <a:rPr lang="ca-ES" sz="1200" i="1" dirty="0">
                <a:solidFill>
                  <a:srgbClr val="333333"/>
                </a:solidFill>
                <a:latin typeface="Montserrat" pitchFamily="2" charset="0"/>
              </a:rPr>
              <a:t>100 plan name variants into 8 plan tiers to ensure consistent segmentation.</a:t>
            </a:r>
          </a:p>
          <a:p>
            <a:r>
              <a:rPr lang="ca-ES" sz="1200" i="1" dirty="0">
                <a:solidFill>
                  <a:srgbClr val="333333"/>
                </a:solidFill>
                <a:latin typeface="Montserrat" pitchFamily="2" charset="0"/>
              </a:rPr>
              <a:t>Definitions used: 90-day renewal window + effective churn (“lost access”) + based segmentation. Focus on 2024-2025 for current dynamics.</a:t>
            </a:r>
          </a:p>
          <a:p>
            <a:r>
              <a:rPr lang="ca-ES" sz="1200" i="1" dirty="0">
                <a:solidFill>
                  <a:srgbClr val="333333"/>
                </a:solidFill>
                <a:latin typeface="Montserrat" pitchFamily="2" charset="0"/>
              </a:rPr>
              <a:t>Tier grouping used for segmentation (higher/lower tiers): Pro+ = Pro/Premium/Max; Standard &amp; below = Standard/Standard Plus/Low/Other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9624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53D668-0E0A-6D86-08BC-BDE905AB11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705856"/>
          </a:xfrm>
          <a:prstGeom prst="rect">
            <a:avLst/>
          </a:prstGeom>
          <a:solidFill>
            <a:srgbClr val="4617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2E8BB5-524C-7F17-33E8-F281E3AB6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7146"/>
            <a:ext cx="10515600" cy="1008563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chemeClr val="bg1"/>
                </a:solidFill>
                <a:latin typeface="Montserrat Black" pitchFamily="2" charset="0"/>
              </a:rPr>
              <a:t>Retention &amp; Churn: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DAFC4-18CF-5F4A-BD1E-B5A192352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022855"/>
            <a:ext cx="5532582" cy="4154108"/>
          </a:xfrm>
        </p:spPr>
        <p:txBody>
          <a:bodyPr>
            <a:normAutofit/>
          </a:bodyPr>
          <a:lstStyle/>
          <a:p>
            <a:r>
              <a:rPr lang="en-GB" sz="1600" b="1" dirty="0">
                <a:solidFill>
                  <a:srgbClr val="333333"/>
                </a:solidFill>
                <a:latin typeface="Montserrat" pitchFamily="2" charset="0"/>
              </a:rPr>
              <a:t>Churn concentrates in Pro:</a:t>
            </a:r>
            <a:r>
              <a:rPr lang="en-GB" sz="1600" dirty="0">
                <a:solidFill>
                  <a:srgbClr val="333333"/>
                </a:solidFill>
                <a:latin typeface="Montserrat" pitchFamily="2" charset="0"/>
              </a:rPr>
              <a:t> 108/756 churned customers (</a:t>
            </a:r>
            <a:r>
              <a:rPr lang="en-GB" sz="1600" dirty="0">
                <a:latin typeface="Montserrat" pitchFamily="2" charset="0"/>
              </a:rPr>
              <a:t>~</a:t>
            </a:r>
            <a:r>
              <a:rPr lang="en-GB" sz="1600" dirty="0">
                <a:solidFill>
                  <a:srgbClr val="333333"/>
                </a:solidFill>
                <a:latin typeface="Montserrat" pitchFamily="2" charset="0"/>
              </a:rPr>
              <a:t>14%)</a:t>
            </a:r>
          </a:p>
          <a:p>
            <a:r>
              <a:rPr lang="en-GB" sz="1600" b="1" dirty="0">
                <a:solidFill>
                  <a:srgbClr val="333333"/>
                </a:solidFill>
                <a:latin typeface="Montserrat" pitchFamily="2" charset="0"/>
              </a:rPr>
              <a:t>Overall retention is strong (2024-2025): </a:t>
            </a:r>
            <a:r>
              <a:rPr lang="en-GB" sz="1600" dirty="0">
                <a:solidFill>
                  <a:srgbClr val="333333"/>
                </a:solidFill>
                <a:latin typeface="Montserrat" pitchFamily="2" charset="0"/>
              </a:rPr>
              <a:t>most tiers have </a:t>
            </a:r>
            <a:r>
              <a:rPr lang="en-GB" sz="1600" dirty="0">
                <a:latin typeface="Montserrat Light" pitchFamily="2" charset="0"/>
              </a:rPr>
              <a:t>~8</a:t>
            </a:r>
            <a:r>
              <a:rPr lang="en-GB" sz="1600" dirty="0">
                <a:solidFill>
                  <a:srgbClr val="333333"/>
                </a:solidFill>
                <a:latin typeface="Montserrat" pitchFamily="2" charset="0"/>
              </a:rPr>
              <a:t>6-93% renewal (90-day definition)</a:t>
            </a:r>
          </a:p>
          <a:p>
            <a:r>
              <a:rPr lang="en-GB" sz="1600" b="1" dirty="0">
                <a:solidFill>
                  <a:srgbClr val="333333"/>
                </a:solidFill>
                <a:latin typeface="Montserrat" pitchFamily="2" charset="0"/>
              </a:rPr>
              <a:t>Note on </a:t>
            </a:r>
            <a:r>
              <a:rPr lang="en-GB" sz="1600" b="1" dirty="0" err="1">
                <a:solidFill>
                  <a:srgbClr val="333333"/>
                </a:solidFill>
                <a:latin typeface="Montserrat" pitchFamily="2" charset="0"/>
              </a:rPr>
              <a:t>winbacks</a:t>
            </a:r>
            <a:r>
              <a:rPr lang="en-GB" sz="1600" b="1" dirty="0">
                <a:solidFill>
                  <a:srgbClr val="333333"/>
                </a:solidFill>
                <a:latin typeface="Montserrat" pitchFamily="2" charset="0"/>
              </a:rPr>
              <a:t>: </a:t>
            </a:r>
            <a:r>
              <a:rPr lang="en-GB" sz="1600" dirty="0">
                <a:solidFill>
                  <a:srgbClr val="333333"/>
                </a:solidFill>
                <a:latin typeface="Montserrat" pitchFamily="2" charset="0"/>
              </a:rPr>
              <a:t>older churn can look inflated due to long gaps </a:t>
            </a:r>
            <a:r>
              <a:rPr lang="ca-ES" sz="1600" dirty="0">
                <a:solidFill>
                  <a:srgbClr val="333333"/>
                </a:solidFill>
                <a:latin typeface="Montserrat" pitchFamily="2" charset="0"/>
              </a:rPr>
              <a:t>+ later</a:t>
            </a:r>
            <a:r>
              <a:rPr lang="en-GB" sz="1600" dirty="0">
                <a:solidFill>
                  <a:srgbClr val="333333"/>
                </a:solidFill>
                <a:latin typeface="Montserrat" pitchFamily="2" charset="0"/>
              </a:rPr>
              <a:t> reactivation (counted as churn at original end of month)</a:t>
            </a:r>
          </a:p>
          <a:p>
            <a:endParaRPr lang="en-GB" sz="2000" dirty="0">
              <a:latin typeface="Montserrat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65DEF9D-8B35-41F5-07B3-A94DDD419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934" y="3902958"/>
            <a:ext cx="5535648" cy="227400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D99966C-6BD8-A53E-9651-D239BD263256}"/>
              </a:ext>
            </a:extLst>
          </p:cNvPr>
          <p:cNvSpPr txBox="1"/>
          <p:nvPr/>
        </p:nvSpPr>
        <p:spPr>
          <a:xfrm>
            <a:off x="1325676" y="2022855"/>
            <a:ext cx="4449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600" dirty="0">
                <a:solidFill>
                  <a:srgbClr val="333333"/>
                </a:solidFill>
                <a:latin typeface="Montserrat" pitchFamily="2" charset="0"/>
              </a:rPr>
              <a:t>Customer renewal rate by plan tier</a:t>
            </a:r>
            <a:endParaRPr lang="en-GB" sz="1600" dirty="0">
              <a:solidFill>
                <a:srgbClr val="333333"/>
              </a:solidFill>
              <a:latin typeface="Montserrat" pitchFamily="2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D28CF1C-A980-DEBB-67FF-95FEEF3C3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30" y="2537336"/>
            <a:ext cx="5096698" cy="363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353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5D72E7-4420-C779-5289-D78C2AA1D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E8CFFDF-1808-B5FE-9581-A79CC584D4F9}"/>
              </a:ext>
            </a:extLst>
          </p:cNvPr>
          <p:cNvSpPr/>
          <p:nvPr/>
        </p:nvSpPr>
        <p:spPr>
          <a:xfrm>
            <a:off x="737667" y="4418319"/>
            <a:ext cx="5273325" cy="2002435"/>
          </a:xfrm>
          <a:prstGeom prst="rect">
            <a:avLst/>
          </a:prstGeom>
          <a:solidFill>
            <a:srgbClr val="E8E8E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15C951-F71B-0BAB-42A1-1EFC81D85D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705856"/>
          </a:xfrm>
          <a:prstGeom prst="rect">
            <a:avLst/>
          </a:prstGeom>
          <a:solidFill>
            <a:srgbClr val="4617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FFA184-338C-5825-95DE-80FAABB6E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7146"/>
            <a:ext cx="10515600" cy="1008563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chemeClr val="bg1"/>
                </a:solidFill>
                <a:latin typeface="Montserrat Black" pitchFamily="2" charset="0"/>
              </a:rPr>
              <a:t>Expansion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9D6A5-793C-BE13-1843-959574106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6299" y="2022856"/>
            <a:ext cx="5510271" cy="8010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b="1" dirty="0">
                <a:solidFill>
                  <a:srgbClr val="333333"/>
                </a:solidFill>
                <a:latin typeface="Montserrat" pitchFamily="2" charset="0"/>
              </a:rPr>
              <a:t>Upsell targets: </a:t>
            </a:r>
            <a:r>
              <a:rPr lang="en-GB" sz="1600" dirty="0">
                <a:solidFill>
                  <a:srgbClr val="333333"/>
                </a:solidFill>
                <a:latin typeface="Montserrat" pitchFamily="2" charset="0"/>
              </a:rPr>
              <a:t>143 customers are heavy users but on lower tiers. 23 renew within 60 days → ideal timing to offer an upgrade.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AF127AF-8C9E-28E6-62A2-533D57E74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738324"/>
              </p:ext>
            </p:extLst>
          </p:nvPr>
        </p:nvGraphicFramePr>
        <p:xfrm>
          <a:off x="838201" y="2357581"/>
          <a:ext cx="4377216" cy="1796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988">
                  <a:extLst>
                    <a:ext uri="{9D8B030D-6E8A-4147-A177-3AD203B41FA5}">
                      <a16:colId xmlns:a16="http://schemas.microsoft.com/office/drawing/2014/main" val="3627591382"/>
                    </a:ext>
                  </a:extLst>
                </a:gridCol>
                <a:gridCol w="1331208">
                  <a:extLst>
                    <a:ext uri="{9D8B030D-6E8A-4147-A177-3AD203B41FA5}">
                      <a16:colId xmlns:a16="http://schemas.microsoft.com/office/drawing/2014/main" val="531426737"/>
                    </a:ext>
                  </a:extLst>
                </a:gridCol>
                <a:gridCol w="1462020">
                  <a:extLst>
                    <a:ext uri="{9D8B030D-6E8A-4147-A177-3AD203B41FA5}">
                      <a16:colId xmlns:a16="http://schemas.microsoft.com/office/drawing/2014/main" val="2796071040"/>
                    </a:ext>
                  </a:extLst>
                </a:gridCol>
              </a:tblGrid>
              <a:tr h="598930">
                <a:tc>
                  <a:txBody>
                    <a:bodyPr/>
                    <a:lstStyle/>
                    <a:p>
                      <a:r>
                        <a:rPr lang="ca-ES" sz="1600" b="0" dirty="0">
                          <a:latin typeface="Montserrat" pitchFamily="2" charset="0"/>
                        </a:rPr>
                        <a:t>Usage / tier</a:t>
                      </a:r>
                      <a:endParaRPr lang="en-GB" sz="1600" b="0" dirty="0">
                        <a:latin typeface="Montserrat" pitchFamily="2" charset="0"/>
                      </a:endParaRPr>
                    </a:p>
                  </a:txBody>
                  <a:tcPr anchor="ctr">
                    <a:solidFill>
                      <a:srgbClr val="4617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a-ES" sz="1600" b="0" dirty="0">
                          <a:latin typeface="Montserrat" pitchFamily="2" charset="0"/>
                        </a:rPr>
                        <a:t>Pro &amp; +</a:t>
                      </a:r>
                      <a:endParaRPr lang="en-GB" sz="1600" b="0" dirty="0">
                        <a:latin typeface="Montserrat" pitchFamily="2" charset="0"/>
                      </a:endParaRPr>
                    </a:p>
                  </a:txBody>
                  <a:tcPr anchor="ctr">
                    <a:solidFill>
                      <a:srgbClr val="4617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a-ES" sz="1600" b="0" dirty="0">
                          <a:latin typeface="Montserrat" pitchFamily="2" charset="0"/>
                        </a:rPr>
                        <a:t>Standard &amp; below</a:t>
                      </a:r>
                      <a:endParaRPr lang="en-GB" sz="1600" b="0" dirty="0">
                        <a:latin typeface="Montserrat" pitchFamily="2" charset="0"/>
                      </a:endParaRPr>
                    </a:p>
                  </a:txBody>
                  <a:tcPr anchor="ctr">
                    <a:solidFill>
                      <a:srgbClr val="4617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250642"/>
                  </a:ext>
                </a:extLst>
              </a:tr>
              <a:tr h="598930">
                <a:tc>
                  <a:txBody>
                    <a:bodyPr/>
                    <a:lstStyle/>
                    <a:p>
                      <a:r>
                        <a:rPr lang="ca-ES" sz="1600" b="0" baseline="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High usage</a:t>
                      </a:r>
                      <a:endParaRPr lang="en-GB" sz="1600" b="0" baseline="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 anchor="ctr">
                    <a:solidFill>
                      <a:srgbClr val="46178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a-ES" sz="1600" b="0" dirty="0">
                          <a:solidFill>
                            <a:srgbClr val="333333"/>
                          </a:solidFill>
                          <a:latin typeface="Montserrat" pitchFamily="2" charset="0"/>
                        </a:rPr>
                        <a:t>264</a:t>
                      </a:r>
                      <a:endParaRPr lang="en-GB" sz="1600" b="0" dirty="0">
                        <a:solidFill>
                          <a:srgbClr val="333333"/>
                        </a:solidFill>
                        <a:latin typeface="Montserrat" pitchFamily="2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a-ES" sz="1600" b="1" dirty="0">
                          <a:solidFill>
                            <a:srgbClr val="333333"/>
                          </a:solidFill>
                          <a:latin typeface="Montserrat" pitchFamily="2" charset="0"/>
                        </a:rPr>
                        <a:t>143</a:t>
                      </a:r>
                      <a:endParaRPr lang="en-GB" sz="1600" b="1" dirty="0">
                        <a:solidFill>
                          <a:srgbClr val="333333"/>
                        </a:solidFill>
                        <a:latin typeface="Montserrat" pitchFamily="2" charset="0"/>
                      </a:endParaRPr>
                    </a:p>
                  </a:txBody>
                  <a:tcPr anchor="ctr">
                    <a:solidFill>
                      <a:srgbClr val="B2DF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553295"/>
                  </a:ext>
                </a:extLst>
              </a:tr>
              <a:tr h="598930">
                <a:tc>
                  <a:txBody>
                    <a:bodyPr/>
                    <a:lstStyle/>
                    <a:p>
                      <a:r>
                        <a:rPr lang="ca-ES" sz="1600" b="0" baseline="0" dirty="0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Low usage</a:t>
                      </a:r>
                      <a:endParaRPr lang="en-GB" sz="1600" b="0" baseline="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 anchor="ctr">
                    <a:solidFill>
                      <a:srgbClr val="46178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a-ES" sz="1600" b="0" dirty="0">
                          <a:solidFill>
                            <a:srgbClr val="333333"/>
                          </a:solidFill>
                          <a:latin typeface="Montserrat" pitchFamily="2" charset="0"/>
                        </a:rPr>
                        <a:t>2156</a:t>
                      </a:r>
                      <a:endParaRPr lang="en-GB" sz="1600" b="0" dirty="0">
                        <a:solidFill>
                          <a:srgbClr val="333333"/>
                        </a:solidFill>
                        <a:latin typeface="Montserrat" pitchFamily="2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a-ES" sz="1600" b="0" dirty="0">
                          <a:solidFill>
                            <a:srgbClr val="333333"/>
                          </a:solidFill>
                          <a:latin typeface="Montserrat" pitchFamily="2" charset="0"/>
                        </a:rPr>
                        <a:t>1394</a:t>
                      </a:r>
                      <a:endParaRPr lang="en-GB" sz="1600" b="0" dirty="0">
                        <a:solidFill>
                          <a:srgbClr val="333333"/>
                        </a:solidFill>
                        <a:latin typeface="Montserrat" pitchFamily="2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276648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B43AE260-679D-B310-866B-CE22E852E874}"/>
              </a:ext>
            </a:extLst>
          </p:cNvPr>
          <p:cNvSpPr/>
          <p:nvPr/>
        </p:nvSpPr>
        <p:spPr>
          <a:xfrm rot="19781358">
            <a:off x="4996524" y="2681294"/>
            <a:ext cx="1294336" cy="375318"/>
          </a:xfrm>
          <a:prstGeom prst="rightArrow">
            <a:avLst/>
          </a:prstGeom>
          <a:solidFill>
            <a:srgbClr val="2507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2740CE-F175-A9D1-9AAD-6F77E8EFB87C}"/>
              </a:ext>
            </a:extLst>
          </p:cNvPr>
          <p:cNvSpPr txBox="1"/>
          <p:nvPr/>
        </p:nvSpPr>
        <p:spPr>
          <a:xfrm>
            <a:off x="1175657" y="1944846"/>
            <a:ext cx="4155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600" dirty="0">
                <a:solidFill>
                  <a:srgbClr val="333333"/>
                </a:solidFill>
                <a:latin typeface="Montserrat" pitchFamily="2" charset="0"/>
              </a:rPr>
              <a:t>Who is outgrowing their plan?</a:t>
            </a:r>
            <a:endParaRPr lang="en-GB" sz="1600" dirty="0">
              <a:solidFill>
                <a:srgbClr val="333333"/>
              </a:solidFill>
              <a:latin typeface="Montserrat" pitchFamily="2" charset="0"/>
            </a:endParaRPr>
          </a:p>
        </p:txBody>
      </p:sp>
      <p:pic>
        <p:nvPicPr>
          <p:cNvPr id="18" name="Graphic 17" descr="Siren with solid fill">
            <a:extLst>
              <a:ext uri="{FF2B5EF4-FFF2-40B4-BE49-F238E27FC236}">
                <a16:creationId xmlns:a16="http://schemas.microsoft.com/office/drawing/2014/main" id="{CD2B0470-DF86-6340-9964-1026ABA88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42492" y="2937074"/>
            <a:ext cx="637803" cy="63780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08C1080-86B5-BAB1-EB94-DD3D0D29DEF2}"/>
              </a:ext>
            </a:extLst>
          </p:cNvPr>
          <p:cNvSpPr txBox="1"/>
          <p:nvPr/>
        </p:nvSpPr>
        <p:spPr>
          <a:xfrm>
            <a:off x="6244818" y="2890391"/>
            <a:ext cx="55102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333333"/>
                </a:solidFill>
                <a:latin typeface="Montserrat" pitchFamily="2" charset="0"/>
              </a:rPr>
              <a:t>Expansion opportunity: </a:t>
            </a:r>
            <a:r>
              <a:rPr lang="en-GB" sz="1600" dirty="0">
                <a:solidFill>
                  <a:srgbClr val="333333"/>
                </a:solidFill>
                <a:latin typeface="Montserrat" pitchFamily="2" charset="0"/>
              </a:rPr>
              <a:t>large accounts with many seats but low activation. Focus on onboarding + activation and convert to seat/tier upgrade.</a:t>
            </a:r>
            <a:endParaRPr lang="en-GB" sz="1600" dirty="0">
              <a:latin typeface="Montserrat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21F6A2-2EB8-5860-30BD-7251AB122FF7}"/>
              </a:ext>
            </a:extLst>
          </p:cNvPr>
          <p:cNvSpPr txBox="1"/>
          <p:nvPr/>
        </p:nvSpPr>
        <p:spPr>
          <a:xfrm>
            <a:off x="6924574" y="3872641"/>
            <a:ext cx="4564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Montserrat" pitchFamily="2" charset="0"/>
              </a:rPr>
              <a:t>Top countries with upsell-ready customers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A777E4-2CE7-1674-AAB6-8D4FC2F158CF}"/>
              </a:ext>
            </a:extLst>
          </p:cNvPr>
          <p:cNvSpPr txBox="1"/>
          <p:nvPr/>
        </p:nvSpPr>
        <p:spPr>
          <a:xfrm>
            <a:off x="822673" y="4472108"/>
            <a:ext cx="5273325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ca-ES" sz="1600" b="1" dirty="0">
                <a:solidFill>
                  <a:srgbClr val="333333"/>
                </a:solidFill>
                <a:latin typeface="Montserrat" pitchFamily="2" charset="0"/>
              </a:rPr>
              <a:t>Next actions (playbook)</a:t>
            </a:r>
          </a:p>
          <a:p>
            <a:pPr marL="342900" indent="-342900">
              <a:buAutoNum type="arabicPeriod"/>
            </a:pPr>
            <a:r>
              <a:rPr lang="ca-ES" sz="1600" b="1" dirty="0">
                <a:solidFill>
                  <a:srgbClr val="333333"/>
                </a:solidFill>
                <a:latin typeface="Montserrat" pitchFamily="2" charset="0"/>
              </a:rPr>
              <a:t>Upgrade: </a:t>
            </a:r>
            <a:r>
              <a:rPr lang="ca-ES" sz="1600" dirty="0">
                <a:solidFill>
                  <a:srgbClr val="333333"/>
                </a:solidFill>
                <a:latin typeface="Montserrat" pitchFamily="2" charset="0"/>
              </a:rPr>
              <a:t>standard and below + high usage (143)</a:t>
            </a:r>
          </a:p>
          <a:p>
            <a:pPr marL="342900" indent="-342900">
              <a:buAutoNum type="arabicPeriod"/>
            </a:pPr>
            <a:r>
              <a:rPr lang="ca-ES" sz="1600" b="1" dirty="0">
                <a:solidFill>
                  <a:srgbClr val="333333"/>
                </a:solidFill>
                <a:latin typeface="Montserrat" pitchFamily="2" charset="0"/>
              </a:rPr>
              <a:t>Renewal outreach: </a:t>
            </a:r>
            <a:r>
              <a:rPr lang="ca-ES" sz="1600" dirty="0">
                <a:solidFill>
                  <a:srgbClr val="333333"/>
                </a:solidFill>
                <a:latin typeface="Montserrat" pitchFamily="2" charset="0"/>
              </a:rPr>
              <a:t>prioritize 23 renewing ≤60d</a:t>
            </a:r>
          </a:p>
          <a:p>
            <a:pPr marL="342900" indent="-342900">
              <a:buAutoNum type="arabicPeriod"/>
            </a:pPr>
            <a:r>
              <a:rPr lang="ca-ES" sz="1600" b="1" dirty="0">
                <a:solidFill>
                  <a:srgbClr val="333333"/>
                </a:solidFill>
                <a:latin typeface="Montserrat" pitchFamily="2" charset="0"/>
              </a:rPr>
              <a:t>Seat activation: </a:t>
            </a:r>
            <a:r>
              <a:rPr lang="ca-ES" sz="1600" dirty="0">
                <a:solidFill>
                  <a:srgbClr val="333333"/>
                </a:solidFill>
                <a:latin typeface="Montserrat" pitchFamily="2" charset="0"/>
              </a:rPr>
              <a:t>many seats + low invites → training + champions</a:t>
            </a:r>
            <a:endParaRPr lang="en-GB" sz="1600" dirty="0">
              <a:solidFill>
                <a:srgbClr val="333333"/>
              </a:solidFill>
              <a:latin typeface="Montserrat" pitchFamily="2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BE0165C-FDBB-47E8-54BC-F965F8B09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204" y="4152845"/>
            <a:ext cx="5273497" cy="226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273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AD7EAE-8AF7-E79D-6219-2D10D4ED6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1AE037-FA4D-2DB1-39A4-4BD39A1D6A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705856"/>
          </a:xfrm>
          <a:prstGeom prst="rect">
            <a:avLst/>
          </a:prstGeom>
          <a:solidFill>
            <a:srgbClr val="4617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A7891F-3A7D-63F9-B32F-3FAC0330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solidFill>
                  <a:schemeClr val="bg1"/>
                </a:solidFill>
                <a:latin typeface="Montserrat Black" pitchFamily="2" charset="0"/>
              </a:rPr>
              <a:t>Coordination &amp; delivery plan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0C8D359-C44B-ED48-26C7-017921AE5D73}"/>
              </a:ext>
            </a:extLst>
          </p:cNvPr>
          <p:cNvGrpSpPr/>
          <p:nvPr/>
        </p:nvGrpSpPr>
        <p:grpSpPr>
          <a:xfrm>
            <a:off x="5104427" y="2070981"/>
            <a:ext cx="6447903" cy="4160569"/>
            <a:chOff x="839788" y="2075022"/>
            <a:chExt cx="6447903" cy="416056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A91BABD-E4AC-8A12-4CC0-CAF3C53E2B27}"/>
                </a:ext>
              </a:extLst>
            </p:cNvPr>
            <p:cNvSpPr/>
            <p:nvPr/>
          </p:nvSpPr>
          <p:spPr>
            <a:xfrm>
              <a:off x="839788" y="2785460"/>
              <a:ext cx="2149301" cy="3450131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a-ES" sz="1600" b="1" dirty="0">
                  <a:solidFill>
                    <a:srgbClr val="333333"/>
                  </a:solidFill>
                  <a:latin typeface="Montserrat" pitchFamily="2" charset="0"/>
                </a:rPr>
                <a:t>Owners</a:t>
              </a:r>
            </a:p>
            <a:p>
              <a:pPr algn="ctr"/>
              <a:r>
                <a:rPr lang="ca-ES" sz="1600" dirty="0">
                  <a:solidFill>
                    <a:srgbClr val="333333"/>
                  </a:solidFill>
                  <a:latin typeface="Montserrat" pitchFamily="2" charset="0"/>
                </a:rPr>
                <a:t>Data &amp; QA </a:t>
              </a:r>
              <a:r>
                <a:rPr lang="ca-ES" sz="1600" dirty="0">
                  <a:solidFill>
                    <a:srgbClr val="333333"/>
                  </a:solidFill>
                  <a:latin typeface="Aptos" panose="020B0004020202020204" pitchFamily="34" charset="0"/>
                </a:rPr>
                <a:t>/</a:t>
              </a:r>
              <a:r>
                <a:rPr lang="ca-ES" sz="1600" dirty="0">
                  <a:solidFill>
                    <a:srgbClr val="333333"/>
                  </a:solidFill>
                  <a:latin typeface="Montserrat" pitchFamily="2" charset="0"/>
                </a:rPr>
                <a:t> Insights &amp; Segmentation </a:t>
              </a:r>
              <a:r>
                <a:rPr lang="ca-ES" sz="1600" dirty="0">
                  <a:solidFill>
                    <a:srgbClr val="333333"/>
                  </a:solidFill>
                  <a:latin typeface="Aptos" panose="020B0004020202020204" pitchFamily="34" charset="0"/>
                </a:rPr>
                <a:t>/</a:t>
              </a:r>
              <a:r>
                <a:rPr lang="ca-ES" sz="1600" dirty="0">
                  <a:solidFill>
                    <a:srgbClr val="333333"/>
                  </a:solidFill>
                  <a:latin typeface="Montserrat" pitchFamily="2" charset="0"/>
                </a:rPr>
                <a:t> Storytelling &amp; Slides</a:t>
              </a:r>
            </a:p>
            <a:p>
              <a:pPr algn="ctr"/>
              <a:endParaRPr lang="ca-ES" sz="1600" dirty="0">
                <a:solidFill>
                  <a:srgbClr val="333333"/>
                </a:solidFill>
                <a:latin typeface="Montserrat" pitchFamily="2" charset="0"/>
              </a:endParaRPr>
            </a:p>
            <a:p>
              <a:pPr algn="ctr"/>
              <a:r>
                <a:rPr lang="ca-ES" sz="1600" b="1" dirty="0">
                  <a:solidFill>
                    <a:srgbClr val="333333"/>
                  </a:solidFill>
                  <a:latin typeface="Montserrat" pitchFamily="2" charset="0"/>
                </a:rPr>
                <a:t>Scope &amp; definitions</a:t>
              </a:r>
            </a:p>
            <a:p>
              <a:pPr algn="ctr"/>
              <a:r>
                <a:rPr lang="ca-ES" sz="1600" dirty="0">
                  <a:solidFill>
                    <a:srgbClr val="333333"/>
                  </a:solidFill>
                  <a:latin typeface="Montserrat" pitchFamily="2" charset="0"/>
                </a:rPr>
                <a:t>One source of truth / Metric definitions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F310677-8395-7622-9359-45564D619608}"/>
                </a:ext>
              </a:extLst>
            </p:cNvPr>
            <p:cNvSpPr/>
            <p:nvPr/>
          </p:nvSpPr>
          <p:spPr>
            <a:xfrm>
              <a:off x="839788" y="2075022"/>
              <a:ext cx="2149301" cy="710438"/>
            </a:xfrm>
            <a:prstGeom prst="rect">
              <a:avLst/>
            </a:prstGeom>
            <a:solidFill>
              <a:srgbClr val="46178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a-ES" sz="1600" b="1" dirty="0">
                  <a:latin typeface="Montserrat" pitchFamily="2" charset="0"/>
                </a:rPr>
                <a:t>Plan</a:t>
              </a:r>
              <a:br>
                <a:rPr lang="ca-ES" sz="1600" b="1" dirty="0">
                  <a:latin typeface="Montserrat" pitchFamily="2" charset="0"/>
                </a:rPr>
              </a:br>
              <a:r>
                <a:rPr lang="ca-ES" sz="1600" b="1" dirty="0">
                  <a:latin typeface="Montserrat" pitchFamily="2" charset="0"/>
                </a:rPr>
                <a:t>(how we set it up)</a:t>
              </a:r>
              <a:endParaRPr lang="en-GB" sz="1600" b="1" dirty="0">
                <a:latin typeface="Montserrat" pitchFamily="2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D0B8B3B-E2F5-A399-8010-3FDF1D32B34C}"/>
                </a:ext>
              </a:extLst>
            </p:cNvPr>
            <p:cNvSpPr/>
            <p:nvPr/>
          </p:nvSpPr>
          <p:spPr>
            <a:xfrm>
              <a:off x="2989089" y="2785460"/>
              <a:ext cx="2149301" cy="3450131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a-ES" sz="1600" b="1" dirty="0">
                  <a:solidFill>
                    <a:srgbClr val="333333"/>
                  </a:solidFill>
                  <a:latin typeface="Montserrat" pitchFamily="2" charset="0"/>
                </a:rPr>
                <a:t>Rythm</a:t>
              </a:r>
            </a:p>
            <a:p>
              <a:pPr algn="ctr"/>
              <a:r>
                <a:rPr lang="ca-ES" sz="1600" dirty="0">
                  <a:solidFill>
                    <a:srgbClr val="333333"/>
                  </a:solidFill>
                  <a:latin typeface="Montserrat" pitchFamily="2" charset="0"/>
                </a:rPr>
                <a:t>Daily 10-min sync / Midpoint QA check / Final review</a:t>
              </a:r>
            </a:p>
            <a:p>
              <a:pPr algn="ctr"/>
              <a:endParaRPr lang="ca-ES" sz="1600" dirty="0">
                <a:solidFill>
                  <a:srgbClr val="333333"/>
                </a:solidFill>
                <a:latin typeface="Montserrat" pitchFamily="2" charset="0"/>
              </a:endParaRPr>
            </a:p>
            <a:p>
              <a:pPr algn="ctr"/>
              <a:r>
                <a:rPr lang="ca-ES" sz="1600" b="1" dirty="0">
                  <a:solidFill>
                    <a:srgbClr val="333333"/>
                  </a:solidFill>
                  <a:latin typeface="Montserrat" pitchFamily="2" charset="0"/>
                </a:rPr>
                <a:t>Tracking</a:t>
              </a:r>
            </a:p>
            <a:p>
              <a:pPr algn="ctr"/>
              <a:r>
                <a:rPr lang="ca-ES" sz="1600" dirty="0">
                  <a:solidFill>
                    <a:srgbClr val="333333"/>
                  </a:solidFill>
                  <a:latin typeface="Montserrat" pitchFamily="2" charset="0"/>
                </a:rPr>
                <a:t>Jira/Kanban board + sprint checklist / Blockers escalated within 24h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55E03A9-6E1A-BCB7-0405-BC649DCAD0CF}"/>
                </a:ext>
              </a:extLst>
            </p:cNvPr>
            <p:cNvSpPr/>
            <p:nvPr/>
          </p:nvSpPr>
          <p:spPr>
            <a:xfrm>
              <a:off x="2989089" y="2075022"/>
              <a:ext cx="2149301" cy="710438"/>
            </a:xfrm>
            <a:prstGeom prst="rect">
              <a:avLst/>
            </a:prstGeom>
            <a:solidFill>
              <a:srgbClr val="46178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a-ES" sz="1600" b="1" dirty="0">
                  <a:latin typeface="Montserrat" pitchFamily="2" charset="0"/>
                </a:rPr>
                <a:t>Follow-up</a:t>
              </a:r>
              <a:br>
                <a:rPr lang="ca-ES" sz="1600" b="1" dirty="0">
                  <a:latin typeface="Montserrat" pitchFamily="2" charset="0"/>
                </a:rPr>
              </a:br>
              <a:r>
                <a:rPr lang="ca-ES" sz="1600" b="1" dirty="0">
                  <a:latin typeface="Montserrat" pitchFamily="2" charset="0"/>
                </a:rPr>
                <a:t>(how we run it)</a:t>
              </a:r>
              <a:endParaRPr lang="en-GB" sz="1600" b="1" dirty="0">
                <a:latin typeface="Montserrat" pitchFamily="2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2712CD7-86FB-8706-ACFC-7CA18341608A}"/>
                </a:ext>
              </a:extLst>
            </p:cNvPr>
            <p:cNvSpPr/>
            <p:nvPr/>
          </p:nvSpPr>
          <p:spPr>
            <a:xfrm>
              <a:off x="5138390" y="2785460"/>
              <a:ext cx="2149301" cy="3450131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a-ES" sz="1600" b="1" dirty="0">
                  <a:solidFill>
                    <a:srgbClr val="333333"/>
                  </a:solidFill>
                  <a:latin typeface="Montserrat" pitchFamily="2" charset="0"/>
                </a:rPr>
                <a:t>Weekly status</a:t>
              </a:r>
            </a:p>
            <a:p>
              <a:pPr algn="ctr"/>
              <a:r>
                <a:rPr lang="ca-ES" sz="1600" dirty="0">
                  <a:solidFill>
                    <a:srgbClr val="333333"/>
                  </a:solidFill>
                  <a:latin typeface="Montserrat" pitchFamily="2" charset="0"/>
                </a:rPr>
                <a:t>Shipped / Next / Risks &amp; asks</a:t>
              </a:r>
            </a:p>
            <a:p>
              <a:pPr algn="ctr"/>
              <a:endParaRPr lang="ca-ES" sz="1600" dirty="0">
                <a:solidFill>
                  <a:srgbClr val="333333"/>
                </a:solidFill>
                <a:latin typeface="Montserrat" pitchFamily="2" charset="0"/>
              </a:endParaRPr>
            </a:p>
            <a:p>
              <a:pPr algn="ctr"/>
              <a:r>
                <a:rPr lang="ca-ES" sz="1600" b="1" dirty="0">
                  <a:solidFill>
                    <a:srgbClr val="333333"/>
                  </a:solidFill>
                  <a:latin typeface="Montserrat" pitchFamily="2" charset="0"/>
                </a:rPr>
                <a:t>Shared hub</a:t>
              </a:r>
            </a:p>
            <a:p>
              <a:pPr algn="ctr"/>
              <a:r>
                <a:rPr lang="ca-ES" sz="1600" dirty="0">
                  <a:solidFill>
                    <a:srgbClr val="333333"/>
                  </a:solidFill>
                  <a:latin typeface="Montserrat" pitchFamily="2" charset="0"/>
                </a:rPr>
                <a:t>Jira board / Folder / Changelog / Backlog</a:t>
              </a:r>
            </a:p>
            <a:p>
              <a:pPr algn="ctr"/>
              <a:endParaRPr lang="ca-ES" sz="1600" dirty="0">
                <a:solidFill>
                  <a:srgbClr val="333333"/>
                </a:solidFill>
                <a:latin typeface="Montserrat" pitchFamily="2" charset="0"/>
              </a:endParaRPr>
            </a:p>
            <a:p>
              <a:pPr algn="ctr"/>
              <a:r>
                <a:rPr lang="ca-ES" sz="1600" b="1" dirty="0">
                  <a:solidFill>
                    <a:srgbClr val="333333"/>
                  </a:solidFill>
                  <a:latin typeface="Montserrat" pitchFamily="2" charset="0"/>
                </a:rPr>
                <a:t>Stakeholder touchpoints</a:t>
              </a:r>
            </a:p>
            <a:p>
              <a:pPr algn="ctr"/>
              <a:r>
                <a:rPr lang="ca-ES" sz="1600" dirty="0">
                  <a:solidFill>
                    <a:srgbClr val="333333"/>
                  </a:solidFill>
                  <a:latin typeface="Montserrat" pitchFamily="2" charset="0"/>
                </a:rPr>
                <a:t>Midpoint preview / Presentation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FE58B13-A15A-6D0C-9149-D5D8F73534FF}"/>
                </a:ext>
              </a:extLst>
            </p:cNvPr>
            <p:cNvSpPr/>
            <p:nvPr/>
          </p:nvSpPr>
          <p:spPr>
            <a:xfrm>
              <a:off x="5138390" y="2075022"/>
              <a:ext cx="2149301" cy="710438"/>
            </a:xfrm>
            <a:prstGeom prst="rect">
              <a:avLst/>
            </a:prstGeom>
            <a:solidFill>
              <a:srgbClr val="46178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a-ES" sz="1600" b="1" dirty="0">
                  <a:latin typeface="Montserrat" pitchFamily="2" charset="0"/>
                </a:rPr>
                <a:t>Inform others</a:t>
              </a:r>
              <a:br>
                <a:rPr lang="ca-ES" sz="1600" b="1" dirty="0">
                  <a:latin typeface="Montserrat" pitchFamily="2" charset="0"/>
                </a:rPr>
              </a:br>
              <a:r>
                <a:rPr lang="ca-ES" sz="1600" b="1" dirty="0">
                  <a:latin typeface="Montserrat" pitchFamily="2" charset="0"/>
                </a:rPr>
                <a:t>(how we communicate)</a:t>
              </a:r>
              <a:endParaRPr lang="en-GB" sz="1600" b="1" dirty="0">
                <a:latin typeface="Montserrat" pitchFamily="2" charset="0"/>
              </a:endParaRPr>
            </a:p>
          </p:txBody>
        </p:sp>
      </p:grp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DB7F5DA-4CA7-7055-0D86-DC2ACCEF52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1869094"/>
              </p:ext>
            </p:extLst>
          </p:nvPr>
        </p:nvGraphicFramePr>
        <p:xfrm>
          <a:off x="713751" y="2086550"/>
          <a:ext cx="4257819" cy="414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6414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2325</TotalTime>
  <Words>560</Words>
  <Application>Microsoft Office PowerPoint</Application>
  <PresentationFormat>Widescreen</PresentationFormat>
  <Paragraphs>75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Montserrat</vt:lpstr>
      <vt:lpstr>Montserrat Black</vt:lpstr>
      <vt:lpstr>Montserrat Light</vt:lpstr>
      <vt:lpstr>Office Theme</vt:lpstr>
      <vt:lpstr>Customer Success Growth Insights</vt:lpstr>
      <vt:lpstr>Executive summary: where to focus</vt:lpstr>
      <vt:lpstr>Retention &amp; Churn: segmentation</vt:lpstr>
      <vt:lpstr>Expansion opportunities</vt:lpstr>
      <vt:lpstr>Coordination &amp; delivery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 Caballero</dc:creator>
  <cp:lastModifiedBy>Marta Caballero</cp:lastModifiedBy>
  <cp:revision>3</cp:revision>
  <dcterms:created xsi:type="dcterms:W3CDTF">2026-01-01T19:49:13Z</dcterms:created>
  <dcterms:modified xsi:type="dcterms:W3CDTF">2026-01-05T13:43:39Z</dcterms:modified>
</cp:coreProperties>
</file>